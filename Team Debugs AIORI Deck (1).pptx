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Montserrat Bold" charset="1" panose="00000800000000000000"/>
      <p:regular r:id="rId18"/>
    </p:embeddedFont>
    <p:embeddedFont>
      <p:font typeface="Montserrat" charset="1" panose="00000500000000000000"/>
      <p:regular r:id="rId19"/>
    </p:embeddedFont>
    <p:embeddedFont>
      <p:font typeface="Roboto Condensed Bold" charset="1" panose="02000000000000000000"/>
      <p:regular r:id="rId20"/>
    </p:embeddedFont>
    <p:embeddedFont>
      <p:font typeface="Inter Semi-Bold" charset="1" panose="02000503000000020004"/>
      <p:regular r:id="rId21"/>
    </p:embeddedFont>
    <p:embeddedFont>
      <p:font typeface="Inter Medium" charset="1" panose="02000503000000020004"/>
      <p:regular r:id="rId22"/>
    </p:embeddedFont>
    <p:embeddedFont>
      <p:font typeface="Inter Bold" charset="1" panose="020B0802030000000004"/>
      <p:regular r:id="rId23"/>
    </p:embeddedFont>
    <p:embeddedFont>
      <p:font typeface="Montserrat Bold Italics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B8C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7067550"/>
            <a:ext cx="15049500" cy="38100"/>
            <a:chOff x="0" y="0"/>
            <a:chExt cx="2006600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066000" cy="50800"/>
            </a:xfrm>
            <a:custGeom>
              <a:avLst/>
              <a:gdLst/>
              <a:ahLst/>
              <a:cxnLst/>
              <a:rect r="r" b="b" t="t" l="l"/>
              <a:pathLst>
                <a:path h="50800" w="20066000">
                  <a:moveTo>
                    <a:pt x="0" y="0"/>
                  </a:moveTo>
                  <a:lnTo>
                    <a:pt x="20066000" y="0"/>
                  </a:lnTo>
                  <a:lnTo>
                    <a:pt x="20066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2B8C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066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233283"/>
            <a:ext cx="4844442" cy="36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155" spc="129" b="true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AIORI HACKATHON 3 · PS-032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2514600"/>
            <a:ext cx="13525500" cy="2519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6450" b="true">
                <a:solidFill>
                  <a:srgbClr val="0B1F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Path &amp; Reachability</a:t>
            </a:r>
          </a:p>
          <a:p>
            <a:pPr algn="l">
              <a:lnSpc>
                <a:spcPts val="6579"/>
              </a:lnSpc>
            </a:pPr>
            <a:r>
              <a:rPr lang="en-US" sz="6450" b="true">
                <a:solidFill>
                  <a:srgbClr val="0B1F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Analysis During RPKI</a:t>
            </a:r>
          </a:p>
          <a:p>
            <a:pPr algn="l">
              <a:lnSpc>
                <a:spcPts val="6579"/>
              </a:lnSpc>
            </a:pPr>
            <a:r>
              <a:rPr lang="en-US" sz="6450" b="true">
                <a:solidFill>
                  <a:srgbClr val="0B1F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State Changes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1100" y="7477125"/>
            <a:ext cx="6858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DEBUGS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82000" y="7629525"/>
            <a:ext cx="7810500" cy="75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52647A"/>
                </a:solidFill>
                <a:latin typeface="Montserrat"/>
                <a:ea typeface="Montserrat"/>
                <a:cs typeface="Montserrat"/>
                <a:sym typeface="Montserrat"/>
              </a:rPr>
              <a:t>A precise, event-driven view of how routing validity changes propagate into reachability risk.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2380" y="653628"/>
            <a:ext cx="3376801" cy="425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b="true" sz="3168" spc="-94">
                <a:solidFill>
                  <a:srgbClr val="2DA6B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AIORI HACKATHON 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6084" y="1246489"/>
            <a:ext cx="11327497" cy="160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50"/>
              </a:lnSpc>
            </a:pPr>
            <a:r>
              <a:rPr lang="en-US" sz="12050" spc="-358" b="true">
                <a:solidFill>
                  <a:srgbClr val="1E3F9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Meet Team Debugs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0667" y="2824304"/>
            <a:ext cx="9548155" cy="458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4"/>
              </a:lnSpc>
            </a:pPr>
            <a:r>
              <a:rPr lang="en-US" sz="2781" spc="-82" b="true">
                <a:solidFill>
                  <a:srgbClr val="10183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Three minds. One mission.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3848060"/>
            <a:ext cx="5457962" cy="5804885"/>
          </a:xfrm>
          <a:custGeom>
            <a:avLst/>
            <a:gdLst/>
            <a:ahLst/>
            <a:cxnLst/>
            <a:rect r="r" b="b" t="t" l="l"/>
            <a:pathLst>
              <a:path h="5804885" w="5457962">
                <a:moveTo>
                  <a:pt x="0" y="0"/>
                </a:moveTo>
                <a:lnTo>
                  <a:pt x="5457962" y="0"/>
                </a:lnTo>
                <a:lnTo>
                  <a:pt x="5457962" y="5804885"/>
                </a:lnTo>
                <a:lnTo>
                  <a:pt x="0" y="58048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15998" y="4846653"/>
            <a:ext cx="2988483" cy="830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87"/>
              </a:lnSpc>
            </a:pPr>
            <a:r>
              <a:rPr lang="en-US" sz="6287" spc="-187" b="true">
                <a:solidFill>
                  <a:srgbClr val="1E3F9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JASMEET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3201" y="5766924"/>
            <a:ext cx="1625191" cy="48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6"/>
              </a:lnSpc>
            </a:pPr>
            <a:r>
              <a:rPr lang="en-US" sz="2909" spc="-86" b="true">
                <a:solidFill>
                  <a:srgbClr val="2DA6B8"/>
                </a:solidFill>
                <a:latin typeface="Inter Medium"/>
                <a:ea typeface="Inter Medium"/>
                <a:cs typeface="Inter Medium"/>
                <a:sym typeface="Inter Medium"/>
              </a:rPr>
              <a:t>SAKEC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01598" y="6428009"/>
            <a:ext cx="1093780" cy="437279"/>
          </a:xfrm>
          <a:custGeom>
            <a:avLst/>
            <a:gdLst/>
            <a:ahLst/>
            <a:cxnLst/>
            <a:rect r="r" b="b" t="t" l="l"/>
            <a:pathLst>
              <a:path h="437279" w="1093780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97563" y="7048542"/>
            <a:ext cx="4189030" cy="1541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102" spc="-92" b="true">
                <a:solidFill>
                  <a:srgbClr val="101835"/>
                </a:solidFill>
                <a:latin typeface="Inter Bold"/>
                <a:ea typeface="Inter Bold"/>
                <a:cs typeface="Inter Bold"/>
                <a:sym typeface="Inter Bold"/>
              </a:rPr>
              <a:t>Team Lead</a:t>
            </a:r>
          </a:p>
          <a:p>
            <a:pPr algn="l">
              <a:lnSpc>
                <a:spcPts val="4187"/>
              </a:lnSpc>
            </a:pPr>
            <a:r>
              <a:rPr lang="en-US" sz="3102" spc="-92" b="true">
                <a:solidFill>
                  <a:srgbClr val="101835"/>
                </a:solidFill>
                <a:latin typeface="Inter Medium"/>
                <a:ea typeface="Inter Medium"/>
                <a:cs typeface="Inter Medium"/>
                <a:sym typeface="Inter Medium"/>
              </a:rPr>
              <a:t>problem understanding and solution design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311110" y="3848060"/>
            <a:ext cx="5665780" cy="5804885"/>
          </a:xfrm>
          <a:custGeom>
            <a:avLst/>
            <a:gdLst/>
            <a:ahLst/>
            <a:cxnLst/>
            <a:rect r="r" b="b" t="t" l="l"/>
            <a:pathLst>
              <a:path h="5804885" w="5665780">
                <a:moveTo>
                  <a:pt x="0" y="0"/>
                </a:moveTo>
                <a:lnTo>
                  <a:pt x="5665780" y="0"/>
                </a:lnTo>
                <a:lnTo>
                  <a:pt x="5665780" y="5804885"/>
                </a:lnTo>
                <a:lnTo>
                  <a:pt x="0" y="58048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022068" y="4846653"/>
            <a:ext cx="2938990" cy="830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87"/>
              </a:lnSpc>
            </a:pPr>
            <a:r>
              <a:rPr lang="en-US" sz="6287" spc="-187" b="true">
                <a:solidFill>
                  <a:srgbClr val="1E3F9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NISHANT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28482" y="5758583"/>
            <a:ext cx="1704131" cy="500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9"/>
              </a:lnSpc>
            </a:pPr>
            <a:r>
              <a:rPr lang="en-US" sz="2970" spc="-88" b="true">
                <a:solidFill>
                  <a:srgbClr val="2DA6B8"/>
                </a:solidFill>
                <a:latin typeface="Inter Medium"/>
                <a:ea typeface="Inter Medium"/>
                <a:cs typeface="Inter Medium"/>
                <a:sym typeface="Inter Medium"/>
              </a:rPr>
              <a:t>SAKEC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956440" y="6428009"/>
            <a:ext cx="1104718" cy="437279"/>
          </a:xfrm>
          <a:custGeom>
            <a:avLst/>
            <a:gdLst/>
            <a:ahLst/>
            <a:cxnLst/>
            <a:rect r="r" b="b" t="t" l="l"/>
            <a:pathLst>
              <a:path h="437279" w="1104718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016074" y="7048542"/>
            <a:ext cx="2944984" cy="10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102" spc="-92" b="true">
                <a:solidFill>
                  <a:srgbClr val="101835"/>
                </a:solidFill>
                <a:latin typeface="Inter Bold"/>
                <a:ea typeface="Inter Bold"/>
                <a:cs typeface="Inter Bold"/>
                <a:sym typeface="Inter Bold"/>
              </a:rPr>
              <a:t>Data Engineer</a:t>
            </a:r>
          </a:p>
          <a:p>
            <a:pPr algn="l">
              <a:lnSpc>
                <a:spcPts val="4187"/>
              </a:lnSpc>
            </a:pPr>
            <a:r>
              <a:rPr lang="en-US" sz="3102" spc="-92" b="true">
                <a:solidFill>
                  <a:srgbClr val="101835"/>
                </a:solidFill>
                <a:latin typeface="Inter Medium"/>
                <a:ea typeface="Inter Medium"/>
                <a:cs typeface="Inter Medium"/>
                <a:sym typeface="Inter Medium"/>
              </a:rPr>
              <a:t>analysis pipeline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184708" y="3848060"/>
            <a:ext cx="5457962" cy="5804885"/>
          </a:xfrm>
          <a:custGeom>
            <a:avLst/>
            <a:gdLst/>
            <a:ahLst/>
            <a:cxnLst/>
            <a:rect r="r" b="b" t="t" l="l"/>
            <a:pathLst>
              <a:path h="5804885" w="5457962">
                <a:moveTo>
                  <a:pt x="0" y="0"/>
                </a:moveTo>
                <a:lnTo>
                  <a:pt x="5457962" y="0"/>
                </a:lnTo>
                <a:lnTo>
                  <a:pt x="5457962" y="5804885"/>
                </a:lnTo>
                <a:lnTo>
                  <a:pt x="0" y="58048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862084" y="4846653"/>
            <a:ext cx="2345545" cy="830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87"/>
              </a:lnSpc>
            </a:pPr>
            <a:r>
              <a:rPr lang="en-US" sz="6287" spc="-187" b="true">
                <a:solidFill>
                  <a:srgbClr val="1E3F9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UMA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68439" y="5758583"/>
            <a:ext cx="1710056" cy="500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9"/>
              </a:lnSpc>
            </a:pPr>
            <a:r>
              <a:rPr lang="en-US" sz="2970" spc="-88" b="true">
                <a:solidFill>
                  <a:srgbClr val="2DA6B8"/>
                </a:solidFill>
                <a:latin typeface="Inter Medium"/>
                <a:ea typeface="Inter Medium"/>
                <a:cs typeface="Inter Medium"/>
                <a:sym typeface="Inter Medium"/>
              </a:rPr>
              <a:t>SAKEC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840976" y="6428009"/>
            <a:ext cx="1093780" cy="437279"/>
          </a:xfrm>
          <a:custGeom>
            <a:avLst/>
            <a:gdLst/>
            <a:ahLst/>
            <a:cxnLst/>
            <a:rect r="r" b="b" t="t" l="l"/>
            <a:pathLst>
              <a:path h="437279" w="1093780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850185" y="7048542"/>
            <a:ext cx="3535367" cy="1541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102" spc="-92" b="true">
                <a:solidFill>
                  <a:srgbClr val="101835"/>
                </a:solidFill>
                <a:latin typeface="Inter Bold"/>
                <a:ea typeface="Inter Bold"/>
                <a:cs typeface="Inter Bold"/>
                <a:sym typeface="Inter Bold"/>
              </a:rPr>
              <a:t>Results Analyst</a:t>
            </a:r>
          </a:p>
          <a:p>
            <a:pPr algn="l">
              <a:lnSpc>
                <a:spcPts val="4187"/>
              </a:lnSpc>
            </a:pPr>
            <a:r>
              <a:rPr lang="en-US" sz="3102" spc="-92" b="true">
                <a:solidFill>
                  <a:srgbClr val="101835"/>
                </a:solidFill>
                <a:latin typeface="Inter Medium"/>
                <a:ea typeface="Inter Medium"/>
                <a:cs typeface="Inter Medium"/>
                <a:sym typeface="Inter Medium"/>
              </a:rPr>
              <a:t>case studies, report</a:t>
            </a:r>
          </a:p>
          <a:p>
            <a:pPr algn="l">
              <a:lnSpc>
                <a:spcPts val="4187"/>
              </a:lnSpc>
            </a:pPr>
            <a:r>
              <a:rPr lang="en-US" sz="3102" spc="-92" b="true">
                <a:solidFill>
                  <a:srgbClr val="101835"/>
                </a:solidFill>
                <a:latin typeface="Inter Medium"/>
                <a:ea typeface="Inter Medium"/>
                <a:cs typeface="Inter Medium"/>
                <a:sym typeface="Inter Medium"/>
              </a:rPr>
              <a:t>and demo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B8C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0" y="1809750"/>
            <a:ext cx="7048500" cy="4191000"/>
            <a:chOff x="0" y="0"/>
            <a:chExt cx="9398000" cy="558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98000" cy="5588000"/>
            </a:xfrm>
            <a:custGeom>
              <a:avLst/>
              <a:gdLst/>
              <a:ahLst/>
              <a:cxnLst/>
              <a:rect r="r" b="b" t="t" l="l"/>
              <a:pathLst>
                <a:path h="5588000" w="9398000">
                  <a:moveTo>
                    <a:pt x="0" y="0"/>
                  </a:moveTo>
                  <a:lnTo>
                    <a:pt x="9398000" y="0"/>
                  </a:lnTo>
                  <a:lnTo>
                    <a:pt x="9398000" y="5588000"/>
                  </a:lnTo>
                  <a:lnTo>
                    <a:pt x="0" y="5588000"/>
                  </a:lnTo>
                  <a:close/>
                </a:path>
              </a:pathLst>
            </a:custGeom>
            <a:solidFill>
              <a:srgbClr val="EEF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398000" cy="562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2500" y="5619750"/>
            <a:ext cx="95250" cy="2190750"/>
            <a:chOff x="0" y="0"/>
            <a:chExt cx="127000" cy="2921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127000">
                  <a:moveTo>
                    <a:pt x="0" y="0"/>
                  </a:moveTo>
                  <a:lnTo>
                    <a:pt x="127000" y="0"/>
                  </a:lnTo>
                  <a:lnTo>
                    <a:pt x="127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22B8C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7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52500" y="781050"/>
            <a:ext cx="114300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Description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2057400"/>
            <a:ext cx="8858250" cy="1067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025">
                <a:solidFill>
                  <a:srgbClr val="0B1F3A"/>
                </a:solidFill>
                <a:latin typeface="Montserrat"/>
                <a:ea typeface="Montserrat"/>
                <a:cs typeface="Montserrat"/>
                <a:sym typeface="Montserrat"/>
              </a:rPr>
              <a:t>RPKI state is not static. ROA additions, withdrawals, and edits can instantly change route validity — but operators still lack a fast explanation of which AS paths and destinations are newly exposed.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68000" y="2114550"/>
            <a:ext cx="476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99" b="true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GAP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68000" y="2724150"/>
            <a:ext cx="6191250" cy="1429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025">
                <a:solidFill>
                  <a:srgbClr val="0B1F3A"/>
                </a:solidFill>
                <a:latin typeface="Montserrat"/>
                <a:ea typeface="Montserrat"/>
                <a:cs typeface="Montserrat"/>
                <a:sym typeface="Montserrat"/>
              </a:rPr>
              <a:t>• Validation feeds show state, not impact</a:t>
            </a:r>
          </a:p>
          <a:p>
            <a:pPr algn="l">
              <a:lnSpc>
                <a:spcPts val="2875"/>
              </a:lnSpc>
            </a:pPr>
            <a:r>
              <a:rPr lang="en-US" sz="2025">
                <a:solidFill>
                  <a:srgbClr val="0B1F3A"/>
                </a:solidFill>
                <a:latin typeface="Montserrat"/>
                <a:ea typeface="Montserrat"/>
                <a:cs typeface="Montserrat"/>
                <a:sym typeface="Montserrat"/>
              </a:rPr>
              <a:t>• Full recomputation is slow at Internet scale</a:t>
            </a:r>
          </a:p>
          <a:p>
            <a:pPr algn="l">
              <a:lnSpc>
                <a:spcPts val="2875"/>
              </a:lnSpc>
            </a:pPr>
            <a:r>
              <a:rPr lang="en-US" sz="2025">
                <a:solidFill>
                  <a:srgbClr val="0B1F3A"/>
                </a:solidFill>
                <a:latin typeface="Montserrat"/>
                <a:ea typeface="Montserrat"/>
                <a:cs typeface="Montserrat"/>
                <a:sym typeface="Montserrat"/>
              </a:rPr>
              <a:t>• Invalid does not always mean unreachable</a:t>
            </a:r>
          </a:p>
          <a:p>
            <a:pPr algn="l">
              <a:lnSpc>
                <a:spcPts val="2875"/>
              </a:lnSpc>
            </a:pPr>
            <a:r>
              <a:rPr lang="en-US" sz="2025">
                <a:solidFill>
                  <a:srgbClr val="0B1F3A"/>
                </a:solidFill>
                <a:latin typeface="Montserrat"/>
                <a:ea typeface="Montserrat"/>
                <a:cs typeface="Montserrat"/>
                <a:sym typeface="Montserrat"/>
              </a:rPr>
              <a:t>• Root cause is buried across time and topology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00" y="5581650"/>
            <a:ext cx="4191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99" b="true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Required outcome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500" y="6172200"/>
            <a:ext cx="14287500" cy="904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8"/>
              </a:lnSpc>
            </a:pPr>
            <a:r>
              <a:rPr lang="en-US" sz="2850" b="true">
                <a:solidFill>
                  <a:srgbClr val="0B1F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Given an RPKI state change, identify affected prefixes, changed paths, reachability consequences, and the evidence behind each result.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B8C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781050"/>
            <a:ext cx="104775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Background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1628775"/>
            <a:ext cx="104775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52647A"/>
                </a:solidFill>
                <a:latin typeface="Montserrat"/>
                <a:ea typeface="Montserrat"/>
                <a:cs typeface="Montserrat"/>
                <a:sym typeface="Montserrat"/>
              </a:rPr>
              <a:t>Three layers determine whether a route is trusted and usable.</a:t>
            </a:r>
          </a:p>
        </p:txBody>
      </p:sp>
      <p:sp>
        <p:nvSpPr>
          <p:cNvPr name="AutoShape 7" id="7"/>
          <p:cNvSpPr/>
          <p:nvPr/>
        </p:nvSpPr>
        <p:spPr>
          <a:xfrm>
            <a:off x="5238750" y="4857750"/>
            <a:ext cx="1857375" cy="0"/>
          </a:xfrm>
          <a:prstGeom prst="line">
            <a:avLst/>
          </a:prstGeom>
          <a:ln cap="rnd" w="28575">
            <a:solidFill>
              <a:srgbClr val="22B8C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>
            <a:off x="11191875" y="4857750"/>
            <a:ext cx="1857375" cy="0"/>
          </a:xfrm>
          <a:prstGeom prst="line">
            <a:avLst/>
          </a:prstGeom>
          <a:ln cap="rnd" w="28575">
            <a:solidFill>
              <a:srgbClr val="22B8C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" id="9"/>
          <p:cNvGrpSpPr/>
          <p:nvPr/>
        </p:nvGrpSpPr>
        <p:grpSpPr>
          <a:xfrm rot="0">
            <a:off x="1143000" y="4238625"/>
            <a:ext cx="4095750" cy="1238250"/>
            <a:chOff x="0" y="0"/>
            <a:chExt cx="5461000" cy="1651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6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461000">
                  <a:moveTo>
                    <a:pt x="35442" y="0"/>
                  </a:moveTo>
                  <a:lnTo>
                    <a:pt x="5425558" y="0"/>
                  </a:lnTo>
                  <a:cubicBezTo>
                    <a:pt x="5434958" y="0"/>
                    <a:pt x="5443973" y="3734"/>
                    <a:pt x="5450619" y="10381"/>
                  </a:cubicBezTo>
                  <a:cubicBezTo>
                    <a:pt x="5457266" y="17027"/>
                    <a:pt x="5461000" y="26042"/>
                    <a:pt x="5461000" y="35442"/>
                  </a:cubicBezTo>
                  <a:lnTo>
                    <a:pt x="5461000" y="1615558"/>
                  </a:lnTo>
                  <a:cubicBezTo>
                    <a:pt x="5461000" y="1624958"/>
                    <a:pt x="5457266" y="1633973"/>
                    <a:pt x="5450619" y="1640619"/>
                  </a:cubicBezTo>
                  <a:cubicBezTo>
                    <a:pt x="5443973" y="1647266"/>
                    <a:pt x="5434958" y="1651000"/>
                    <a:pt x="5425558" y="1651000"/>
                  </a:cubicBezTo>
                  <a:lnTo>
                    <a:pt x="35442" y="1651000"/>
                  </a:lnTo>
                  <a:cubicBezTo>
                    <a:pt x="26042" y="1651000"/>
                    <a:pt x="17027" y="1647266"/>
                    <a:pt x="10381" y="1640619"/>
                  </a:cubicBezTo>
                  <a:cubicBezTo>
                    <a:pt x="3734" y="1633973"/>
                    <a:pt x="0" y="1624958"/>
                    <a:pt x="0" y="1615558"/>
                  </a:cubicBezTo>
                  <a:lnTo>
                    <a:pt x="0" y="35442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2" y="0"/>
                  </a:cubicBezTo>
                  <a:close/>
                </a:path>
              </a:pathLst>
            </a:custGeom>
            <a:solidFill>
              <a:srgbClr val="EEF3FF"/>
            </a:solidFill>
            <a:ln w="19050" cap="sq">
              <a:solidFill>
                <a:srgbClr val="1F3FB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54610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F3F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RPKI / ROA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096125" y="4238625"/>
            <a:ext cx="4095750" cy="1238250"/>
            <a:chOff x="0" y="0"/>
            <a:chExt cx="5461000" cy="1651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6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461000">
                  <a:moveTo>
                    <a:pt x="35442" y="0"/>
                  </a:moveTo>
                  <a:lnTo>
                    <a:pt x="5425558" y="0"/>
                  </a:lnTo>
                  <a:cubicBezTo>
                    <a:pt x="5434958" y="0"/>
                    <a:pt x="5443973" y="3734"/>
                    <a:pt x="5450619" y="10381"/>
                  </a:cubicBezTo>
                  <a:cubicBezTo>
                    <a:pt x="5457266" y="17027"/>
                    <a:pt x="5461000" y="26042"/>
                    <a:pt x="5461000" y="35442"/>
                  </a:cubicBezTo>
                  <a:lnTo>
                    <a:pt x="5461000" y="1615558"/>
                  </a:lnTo>
                  <a:cubicBezTo>
                    <a:pt x="5461000" y="1624958"/>
                    <a:pt x="5457266" y="1633973"/>
                    <a:pt x="5450619" y="1640619"/>
                  </a:cubicBezTo>
                  <a:cubicBezTo>
                    <a:pt x="5443973" y="1647266"/>
                    <a:pt x="5434958" y="1651000"/>
                    <a:pt x="5425558" y="1651000"/>
                  </a:cubicBezTo>
                  <a:lnTo>
                    <a:pt x="35442" y="1651000"/>
                  </a:lnTo>
                  <a:cubicBezTo>
                    <a:pt x="26042" y="1651000"/>
                    <a:pt x="17027" y="1647266"/>
                    <a:pt x="10381" y="1640619"/>
                  </a:cubicBezTo>
                  <a:cubicBezTo>
                    <a:pt x="3734" y="1633973"/>
                    <a:pt x="0" y="1624958"/>
                    <a:pt x="0" y="1615558"/>
                  </a:cubicBezTo>
                  <a:lnTo>
                    <a:pt x="0" y="35442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2" y="0"/>
                  </a:cubicBezTo>
                  <a:close/>
                </a:path>
              </a:pathLst>
            </a:custGeom>
            <a:solidFill>
              <a:srgbClr val="E8F8FA"/>
            </a:solidFill>
            <a:ln w="19050" cap="sq">
              <a:solidFill>
                <a:srgbClr val="0B1F3A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54610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0B1F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BGP / AS PATH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049250" y="4238625"/>
            <a:ext cx="4095750" cy="1238250"/>
            <a:chOff x="0" y="0"/>
            <a:chExt cx="5461000" cy="1651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6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461000">
                  <a:moveTo>
                    <a:pt x="35442" y="0"/>
                  </a:moveTo>
                  <a:lnTo>
                    <a:pt x="5425558" y="0"/>
                  </a:lnTo>
                  <a:cubicBezTo>
                    <a:pt x="5434958" y="0"/>
                    <a:pt x="5443973" y="3734"/>
                    <a:pt x="5450619" y="10381"/>
                  </a:cubicBezTo>
                  <a:cubicBezTo>
                    <a:pt x="5457266" y="17027"/>
                    <a:pt x="5461000" y="26042"/>
                    <a:pt x="5461000" y="35442"/>
                  </a:cubicBezTo>
                  <a:lnTo>
                    <a:pt x="5461000" y="1615558"/>
                  </a:lnTo>
                  <a:cubicBezTo>
                    <a:pt x="5461000" y="1624958"/>
                    <a:pt x="5457266" y="1633973"/>
                    <a:pt x="5450619" y="1640619"/>
                  </a:cubicBezTo>
                  <a:cubicBezTo>
                    <a:pt x="5443973" y="1647266"/>
                    <a:pt x="5434958" y="1651000"/>
                    <a:pt x="5425558" y="1651000"/>
                  </a:cubicBezTo>
                  <a:lnTo>
                    <a:pt x="35442" y="1651000"/>
                  </a:lnTo>
                  <a:cubicBezTo>
                    <a:pt x="26042" y="1651000"/>
                    <a:pt x="17027" y="1647266"/>
                    <a:pt x="10381" y="1640619"/>
                  </a:cubicBezTo>
                  <a:cubicBezTo>
                    <a:pt x="3734" y="1633973"/>
                    <a:pt x="0" y="1624958"/>
                    <a:pt x="0" y="1615558"/>
                  </a:cubicBezTo>
                  <a:lnTo>
                    <a:pt x="0" y="35442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2" y="0"/>
                  </a:cubicBezTo>
                  <a:close/>
                </a:path>
              </a:pathLst>
            </a:custGeom>
            <a:solidFill>
              <a:srgbClr val="EEF3FF"/>
            </a:solidFill>
            <a:ln w="19050" cap="sq">
              <a:solidFill>
                <a:srgbClr val="1F3FB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54610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F3F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REACHABILITY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43000" y="3381375"/>
            <a:ext cx="40957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Cryptographic intent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96125" y="3381375"/>
            <a:ext cx="40957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Control-plane evidence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49250" y="3381375"/>
            <a:ext cx="40957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Operational consequence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8750" y="5772150"/>
            <a:ext cx="3524250" cy="1067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025">
                <a:solidFill>
                  <a:srgbClr val="0B1F3A"/>
                </a:solidFill>
                <a:latin typeface="Montserrat"/>
                <a:ea typeface="Montserrat"/>
                <a:cs typeface="Montserrat"/>
                <a:sym typeface="Montserrat"/>
              </a:rPr>
              <a:t>ROAs authorize an origin AS for a prefix and maximum length.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81875" y="5772150"/>
            <a:ext cx="3524250" cy="1067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025">
                <a:solidFill>
                  <a:srgbClr val="0B1F3A"/>
                </a:solidFill>
                <a:latin typeface="Montserrat"/>
                <a:ea typeface="Montserrat"/>
                <a:cs typeface="Montserrat"/>
                <a:sym typeface="Montserrat"/>
              </a:rPr>
              <a:t>BGP paths reveal observed origin and AS-level propagation.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35000" y="5772150"/>
            <a:ext cx="3524250" cy="1067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025">
                <a:solidFill>
                  <a:srgbClr val="0B1F3A"/>
                </a:solidFill>
                <a:latin typeface="Montserrat"/>
                <a:ea typeface="Montserrat"/>
                <a:cs typeface="Montserrat"/>
                <a:sym typeface="Montserrat"/>
              </a:rPr>
              <a:t>Policy determines acceptance; topology determines alternatives.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2857500" y="8096250"/>
            <a:ext cx="12573000" cy="1143000"/>
            <a:chOff x="0" y="0"/>
            <a:chExt cx="16764000" cy="152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76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6764000">
                  <a:moveTo>
                    <a:pt x="0" y="0"/>
                  </a:moveTo>
                  <a:lnTo>
                    <a:pt x="16764000" y="0"/>
                  </a:lnTo>
                  <a:lnTo>
                    <a:pt x="16764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E8F8FA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676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238500" y="8343900"/>
            <a:ext cx="11811000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 b="true">
                <a:solidFill>
                  <a:srgbClr val="0B1F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distinction: ROV validity is a policy input — not a direct reachability verdict.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2000250"/>
            <a:ext cx="7810500" cy="2381250"/>
            <a:chOff x="0" y="0"/>
            <a:chExt cx="10414000" cy="3175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14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EEF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414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25000" y="2000250"/>
            <a:ext cx="7810500" cy="2381250"/>
            <a:chOff x="0" y="0"/>
            <a:chExt cx="10414000" cy="3175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14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E8F8F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414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2500" y="5048250"/>
            <a:ext cx="7810500" cy="2381250"/>
            <a:chOff x="0" y="0"/>
            <a:chExt cx="10414000" cy="317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14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EEF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414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0" y="5048250"/>
            <a:ext cx="7810500" cy="2381250"/>
            <a:chOff x="0" y="0"/>
            <a:chExt cx="10414000" cy="317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14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E8F8F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414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B8C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52500" y="781050"/>
            <a:ext cx="133350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Literature and RFC Review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3500" y="2343150"/>
            <a:ext cx="3619500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[1] RFC 6480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3500" y="2962275"/>
            <a:ext cx="6477000" cy="34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025">
                <a:solidFill>
                  <a:srgbClr val="0B1F3A"/>
                </a:solidFill>
                <a:latin typeface="Montserrat"/>
                <a:ea typeface="Montserrat"/>
                <a:cs typeface="Montserrat"/>
                <a:sym typeface="Montserrat"/>
              </a:rPr>
              <a:t>Defines the RPKI architecture and trust model.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06000" y="2343150"/>
            <a:ext cx="4762500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[2] RFC 6811 / 8893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06000" y="2962275"/>
            <a:ext cx="6477000" cy="70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025">
                <a:solidFill>
                  <a:srgbClr val="0B1F3A"/>
                </a:solidFill>
                <a:latin typeface="Montserrat"/>
                <a:ea typeface="Montserrat"/>
                <a:cs typeface="Montserrat"/>
                <a:sym typeface="Montserrat"/>
              </a:rPr>
              <a:t>Specifies origin validation and clarifies operational use.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33500" y="5391150"/>
            <a:ext cx="3619500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[3] RFC 8205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3500" y="6010275"/>
            <a:ext cx="6477000" cy="70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025">
                <a:solidFill>
                  <a:srgbClr val="0B1F3A"/>
                </a:solidFill>
                <a:latin typeface="Montserrat"/>
                <a:ea typeface="Montserrat"/>
                <a:cs typeface="Montserrat"/>
                <a:sym typeface="Montserrat"/>
              </a:rPr>
              <a:t>BGPsec path validation: relevant context, distinct from ROV.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06000" y="5391150"/>
            <a:ext cx="3619500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[4] RFC 8416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06000" y="6010275"/>
            <a:ext cx="6477000" cy="70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025">
                <a:solidFill>
                  <a:srgbClr val="0B1F3A"/>
                </a:solidFill>
                <a:latin typeface="Montserrat"/>
                <a:ea typeface="Montserrat"/>
                <a:cs typeface="Montserrat"/>
                <a:sym typeface="Montserrat"/>
              </a:rPr>
              <a:t>Operational guidance for route origin validation deployment.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52500" y="7810500"/>
            <a:ext cx="16383000" cy="28575"/>
            <a:chOff x="0" y="0"/>
            <a:chExt cx="21844000" cy="38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844000" cy="38100"/>
            </a:xfrm>
            <a:custGeom>
              <a:avLst/>
              <a:gdLst/>
              <a:ahLst/>
              <a:cxnLst/>
              <a:rect r="r" b="b" t="t" l="l"/>
              <a:pathLst>
                <a:path h="381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2B8CF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1844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33500" y="8201025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99" b="true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Design implication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191000" y="8077200"/>
            <a:ext cx="12192000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0B1F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Keep cryptographic validity, observed path change, and inferred reachability as separate evidence layers.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B8C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781050"/>
            <a:ext cx="114300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Proposed 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1581150"/>
            <a:ext cx="104775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52647A"/>
                </a:solidFill>
                <a:latin typeface="Montserrat"/>
                <a:ea typeface="Montserrat"/>
                <a:cs typeface="Montserrat"/>
                <a:sym typeface="Montserrat"/>
              </a:rPr>
              <a:t>An incremental, evidence-preserving five-step pipeline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57250" y="3143250"/>
            <a:ext cx="2762250" cy="1619250"/>
            <a:chOff x="0" y="0"/>
            <a:chExt cx="3683000" cy="2159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83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683000">
                  <a:moveTo>
                    <a:pt x="52552" y="0"/>
                  </a:moveTo>
                  <a:lnTo>
                    <a:pt x="3630448" y="0"/>
                  </a:lnTo>
                  <a:cubicBezTo>
                    <a:pt x="3644386" y="0"/>
                    <a:pt x="3657753" y="5537"/>
                    <a:pt x="3667608" y="15392"/>
                  </a:cubicBezTo>
                  <a:cubicBezTo>
                    <a:pt x="3677463" y="25247"/>
                    <a:pt x="3683000" y="38614"/>
                    <a:pt x="3683000" y="52552"/>
                  </a:cubicBezTo>
                  <a:lnTo>
                    <a:pt x="3683000" y="2106448"/>
                  </a:lnTo>
                  <a:cubicBezTo>
                    <a:pt x="3683000" y="2120386"/>
                    <a:pt x="3677463" y="2133753"/>
                    <a:pt x="3667608" y="2143608"/>
                  </a:cubicBezTo>
                  <a:cubicBezTo>
                    <a:pt x="3657753" y="2153463"/>
                    <a:pt x="3644386" y="2159000"/>
                    <a:pt x="3630448" y="2159000"/>
                  </a:cubicBezTo>
                  <a:lnTo>
                    <a:pt x="52552" y="2159000"/>
                  </a:lnTo>
                  <a:cubicBezTo>
                    <a:pt x="38614" y="2159000"/>
                    <a:pt x="25247" y="2153463"/>
                    <a:pt x="15392" y="2143608"/>
                  </a:cubicBezTo>
                  <a:cubicBezTo>
                    <a:pt x="5537" y="2133753"/>
                    <a:pt x="0" y="2120386"/>
                    <a:pt x="0" y="2106448"/>
                  </a:cubicBezTo>
                  <a:lnTo>
                    <a:pt x="0" y="52552"/>
                  </a:lnTo>
                  <a:cubicBezTo>
                    <a:pt x="0" y="38614"/>
                    <a:pt x="5537" y="25247"/>
                    <a:pt x="15392" y="15392"/>
                  </a:cubicBezTo>
                  <a:cubicBezTo>
                    <a:pt x="25247" y="5537"/>
                    <a:pt x="38614" y="0"/>
                    <a:pt x="52552" y="0"/>
                  </a:cubicBezTo>
                  <a:close/>
                </a:path>
              </a:pathLst>
            </a:custGeom>
            <a:solidFill>
              <a:srgbClr val="EEF3FF"/>
            </a:solidFill>
            <a:ln w="19050" cap="sq">
              <a:solidFill>
                <a:srgbClr val="1F3FB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3683000" cy="214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F3F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  INGEST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F3F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RPKI + BGP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3619500" y="3952875"/>
            <a:ext cx="666750" cy="0"/>
          </a:xfrm>
          <a:prstGeom prst="line">
            <a:avLst/>
          </a:prstGeom>
          <a:ln cap="rnd" w="28575">
            <a:solidFill>
              <a:srgbClr val="22B8C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4286250" y="3143250"/>
            <a:ext cx="2762250" cy="1619250"/>
            <a:chOff x="0" y="0"/>
            <a:chExt cx="3683000" cy="215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83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683000">
                  <a:moveTo>
                    <a:pt x="52552" y="0"/>
                  </a:moveTo>
                  <a:lnTo>
                    <a:pt x="3630448" y="0"/>
                  </a:lnTo>
                  <a:cubicBezTo>
                    <a:pt x="3644386" y="0"/>
                    <a:pt x="3657753" y="5537"/>
                    <a:pt x="3667608" y="15392"/>
                  </a:cubicBezTo>
                  <a:cubicBezTo>
                    <a:pt x="3677463" y="25247"/>
                    <a:pt x="3683000" y="38614"/>
                    <a:pt x="3683000" y="52552"/>
                  </a:cubicBezTo>
                  <a:lnTo>
                    <a:pt x="3683000" y="2106448"/>
                  </a:lnTo>
                  <a:cubicBezTo>
                    <a:pt x="3683000" y="2120386"/>
                    <a:pt x="3677463" y="2133753"/>
                    <a:pt x="3667608" y="2143608"/>
                  </a:cubicBezTo>
                  <a:cubicBezTo>
                    <a:pt x="3657753" y="2153463"/>
                    <a:pt x="3644386" y="2159000"/>
                    <a:pt x="3630448" y="2159000"/>
                  </a:cubicBezTo>
                  <a:lnTo>
                    <a:pt x="52552" y="2159000"/>
                  </a:lnTo>
                  <a:cubicBezTo>
                    <a:pt x="38614" y="2159000"/>
                    <a:pt x="25247" y="2153463"/>
                    <a:pt x="15392" y="2143608"/>
                  </a:cubicBezTo>
                  <a:cubicBezTo>
                    <a:pt x="5537" y="2133753"/>
                    <a:pt x="0" y="2120386"/>
                    <a:pt x="0" y="2106448"/>
                  </a:cubicBezTo>
                  <a:lnTo>
                    <a:pt x="0" y="52552"/>
                  </a:lnTo>
                  <a:cubicBezTo>
                    <a:pt x="0" y="38614"/>
                    <a:pt x="5537" y="25247"/>
                    <a:pt x="15392" y="15392"/>
                  </a:cubicBezTo>
                  <a:cubicBezTo>
                    <a:pt x="25247" y="5537"/>
                    <a:pt x="38614" y="0"/>
                    <a:pt x="52552" y="0"/>
                  </a:cubicBezTo>
                  <a:close/>
                </a:path>
              </a:pathLst>
            </a:custGeom>
            <a:solidFill>
              <a:srgbClr val="EEF3FF"/>
            </a:solidFill>
            <a:ln w="19050" cap="sq">
              <a:solidFill>
                <a:srgbClr val="1F3FB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3683000" cy="214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F3F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  DIFF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F3F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State changes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7048500" y="3952875"/>
            <a:ext cx="666750" cy="0"/>
          </a:xfrm>
          <a:prstGeom prst="line">
            <a:avLst/>
          </a:prstGeom>
          <a:ln cap="rnd" w="28575">
            <a:solidFill>
              <a:srgbClr val="22B8C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0">
            <a:off x="7715250" y="3143250"/>
            <a:ext cx="2762250" cy="1619250"/>
            <a:chOff x="0" y="0"/>
            <a:chExt cx="3683000" cy="2159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83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683000">
                  <a:moveTo>
                    <a:pt x="52552" y="0"/>
                  </a:moveTo>
                  <a:lnTo>
                    <a:pt x="3630448" y="0"/>
                  </a:lnTo>
                  <a:cubicBezTo>
                    <a:pt x="3644386" y="0"/>
                    <a:pt x="3657753" y="5537"/>
                    <a:pt x="3667608" y="15392"/>
                  </a:cubicBezTo>
                  <a:cubicBezTo>
                    <a:pt x="3677463" y="25247"/>
                    <a:pt x="3683000" y="38614"/>
                    <a:pt x="3683000" y="52552"/>
                  </a:cubicBezTo>
                  <a:lnTo>
                    <a:pt x="3683000" y="2106448"/>
                  </a:lnTo>
                  <a:cubicBezTo>
                    <a:pt x="3683000" y="2120386"/>
                    <a:pt x="3677463" y="2133753"/>
                    <a:pt x="3667608" y="2143608"/>
                  </a:cubicBezTo>
                  <a:cubicBezTo>
                    <a:pt x="3657753" y="2153463"/>
                    <a:pt x="3644386" y="2159000"/>
                    <a:pt x="3630448" y="2159000"/>
                  </a:cubicBezTo>
                  <a:lnTo>
                    <a:pt x="52552" y="2159000"/>
                  </a:lnTo>
                  <a:cubicBezTo>
                    <a:pt x="38614" y="2159000"/>
                    <a:pt x="25247" y="2153463"/>
                    <a:pt x="15392" y="2143608"/>
                  </a:cubicBezTo>
                  <a:cubicBezTo>
                    <a:pt x="5537" y="2133753"/>
                    <a:pt x="0" y="2120386"/>
                    <a:pt x="0" y="2106448"/>
                  </a:cubicBezTo>
                  <a:lnTo>
                    <a:pt x="0" y="52552"/>
                  </a:lnTo>
                  <a:cubicBezTo>
                    <a:pt x="0" y="38614"/>
                    <a:pt x="5537" y="25247"/>
                    <a:pt x="15392" y="15392"/>
                  </a:cubicBezTo>
                  <a:cubicBezTo>
                    <a:pt x="25247" y="5537"/>
                    <a:pt x="38614" y="0"/>
                    <a:pt x="52552" y="0"/>
                  </a:cubicBezTo>
                  <a:close/>
                </a:path>
              </a:pathLst>
            </a:custGeom>
            <a:solidFill>
              <a:srgbClr val="EEF3FF"/>
            </a:solidFill>
            <a:ln w="19050" cap="sq">
              <a:solidFill>
                <a:srgbClr val="1F3FB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3683000" cy="214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F3F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  SCOPE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F3F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Affected routes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0477500" y="3952875"/>
            <a:ext cx="666750" cy="0"/>
          </a:xfrm>
          <a:prstGeom prst="line">
            <a:avLst/>
          </a:prstGeom>
          <a:ln cap="rnd" w="28575">
            <a:solidFill>
              <a:srgbClr val="22B8C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9" id="19"/>
          <p:cNvGrpSpPr/>
          <p:nvPr/>
        </p:nvGrpSpPr>
        <p:grpSpPr>
          <a:xfrm rot="0">
            <a:off x="11144250" y="3143250"/>
            <a:ext cx="2762250" cy="1619250"/>
            <a:chOff x="0" y="0"/>
            <a:chExt cx="3683000" cy="2159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83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683000">
                  <a:moveTo>
                    <a:pt x="52552" y="0"/>
                  </a:moveTo>
                  <a:lnTo>
                    <a:pt x="3630448" y="0"/>
                  </a:lnTo>
                  <a:cubicBezTo>
                    <a:pt x="3644386" y="0"/>
                    <a:pt x="3657753" y="5537"/>
                    <a:pt x="3667608" y="15392"/>
                  </a:cubicBezTo>
                  <a:cubicBezTo>
                    <a:pt x="3677463" y="25247"/>
                    <a:pt x="3683000" y="38614"/>
                    <a:pt x="3683000" y="52552"/>
                  </a:cubicBezTo>
                  <a:lnTo>
                    <a:pt x="3683000" y="2106448"/>
                  </a:lnTo>
                  <a:cubicBezTo>
                    <a:pt x="3683000" y="2120386"/>
                    <a:pt x="3677463" y="2133753"/>
                    <a:pt x="3667608" y="2143608"/>
                  </a:cubicBezTo>
                  <a:cubicBezTo>
                    <a:pt x="3657753" y="2153463"/>
                    <a:pt x="3644386" y="2159000"/>
                    <a:pt x="3630448" y="2159000"/>
                  </a:cubicBezTo>
                  <a:lnTo>
                    <a:pt x="52552" y="2159000"/>
                  </a:lnTo>
                  <a:cubicBezTo>
                    <a:pt x="38614" y="2159000"/>
                    <a:pt x="25247" y="2153463"/>
                    <a:pt x="15392" y="2143608"/>
                  </a:cubicBezTo>
                  <a:cubicBezTo>
                    <a:pt x="5537" y="2133753"/>
                    <a:pt x="0" y="2120386"/>
                    <a:pt x="0" y="2106448"/>
                  </a:cubicBezTo>
                  <a:lnTo>
                    <a:pt x="0" y="52552"/>
                  </a:lnTo>
                  <a:cubicBezTo>
                    <a:pt x="0" y="38614"/>
                    <a:pt x="5537" y="25247"/>
                    <a:pt x="15392" y="15392"/>
                  </a:cubicBezTo>
                  <a:cubicBezTo>
                    <a:pt x="25247" y="5537"/>
                    <a:pt x="38614" y="0"/>
                    <a:pt x="52552" y="0"/>
                  </a:cubicBezTo>
                  <a:close/>
                </a:path>
              </a:pathLst>
            </a:custGeom>
            <a:solidFill>
              <a:srgbClr val="E8F8FA"/>
            </a:solidFill>
            <a:ln w="19050" cap="sq">
              <a:solidFill>
                <a:srgbClr val="0B1F3A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3683000" cy="214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0B1F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  ANALYZE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0B1F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Paths + reachability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13906500" y="3952875"/>
            <a:ext cx="666750" cy="0"/>
          </a:xfrm>
          <a:prstGeom prst="line">
            <a:avLst/>
          </a:prstGeom>
          <a:ln cap="rnd" w="28575">
            <a:solidFill>
              <a:srgbClr val="22B8C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3" id="23"/>
          <p:cNvGrpSpPr/>
          <p:nvPr/>
        </p:nvGrpSpPr>
        <p:grpSpPr>
          <a:xfrm rot="0">
            <a:off x="14573250" y="3143250"/>
            <a:ext cx="2762250" cy="1619250"/>
            <a:chOff x="0" y="0"/>
            <a:chExt cx="3683000" cy="2159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83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683000">
                  <a:moveTo>
                    <a:pt x="52552" y="0"/>
                  </a:moveTo>
                  <a:lnTo>
                    <a:pt x="3630448" y="0"/>
                  </a:lnTo>
                  <a:cubicBezTo>
                    <a:pt x="3644386" y="0"/>
                    <a:pt x="3657753" y="5537"/>
                    <a:pt x="3667608" y="15392"/>
                  </a:cubicBezTo>
                  <a:cubicBezTo>
                    <a:pt x="3677463" y="25247"/>
                    <a:pt x="3683000" y="38614"/>
                    <a:pt x="3683000" y="52552"/>
                  </a:cubicBezTo>
                  <a:lnTo>
                    <a:pt x="3683000" y="2106448"/>
                  </a:lnTo>
                  <a:cubicBezTo>
                    <a:pt x="3683000" y="2120386"/>
                    <a:pt x="3677463" y="2133753"/>
                    <a:pt x="3667608" y="2143608"/>
                  </a:cubicBezTo>
                  <a:cubicBezTo>
                    <a:pt x="3657753" y="2153463"/>
                    <a:pt x="3644386" y="2159000"/>
                    <a:pt x="3630448" y="2159000"/>
                  </a:cubicBezTo>
                  <a:lnTo>
                    <a:pt x="52552" y="2159000"/>
                  </a:lnTo>
                  <a:cubicBezTo>
                    <a:pt x="38614" y="2159000"/>
                    <a:pt x="25247" y="2153463"/>
                    <a:pt x="15392" y="2143608"/>
                  </a:cubicBezTo>
                  <a:cubicBezTo>
                    <a:pt x="5537" y="2133753"/>
                    <a:pt x="0" y="2120386"/>
                    <a:pt x="0" y="2106448"/>
                  </a:cubicBezTo>
                  <a:lnTo>
                    <a:pt x="0" y="52552"/>
                  </a:lnTo>
                  <a:cubicBezTo>
                    <a:pt x="0" y="38614"/>
                    <a:pt x="5537" y="25247"/>
                    <a:pt x="15392" y="15392"/>
                  </a:cubicBezTo>
                  <a:cubicBezTo>
                    <a:pt x="25247" y="5537"/>
                    <a:pt x="38614" y="0"/>
                    <a:pt x="52552" y="0"/>
                  </a:cubicBezTo>
                  <a:close/>
                </a:path>
              </a:pathLst>
            </a:custGeom>
            <a:solidFill>
              <a:srgbClr val="EEF3FF"/>
            </a:solidFill>
            <a:ln w="19050" cap="sq">
              <a:solidFill>
                <a:srgbClr val="1F3FB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3683000" cy="214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F3F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  EXPLAIN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F3F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Ranked evidence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57250" y="5257800"/>
            <a:ext cx="2762250" cy="549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52647A"/>
                </a:solidFill>
                <a:latin typeface="Montserrat"/>
                <a:ea typeface="Montserrat"/>
                <a:cs typeface="Montserrat"/>
                <a:sym typeface="Montserrat"/>
              </a:rPr>
              <a:t>Normalize snapshots and event streams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286250" y="5257800"/>
            <a:ext cx="2762250" cy="549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52647A"/>
                </a:solidFill>
                <a:latin typeface="Montserrat"/>
                <a:ea typeface="Montserrat"/>
                <a:cs typeface="Montserrat"/>
                <a:sym typeface="Montserrat"/>
              </a:rPr>
              <a:t>Detect ROA add, withdraw, modify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715250" y="5257800"/>
            <a:ext cx="2762250" cy="549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52647A"/>
                </a:solidFill>
                <a:latin typeface="Montserrat"/>
                <a:ea typeface="Montserrat"/>
                <a:cs typeface="Montserrat"/>
                <a:sym typeface="Montserrat"/>
              </a:rPr>
              <a:t>Map prefixes, origins, paths and peers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144250" y="5257800"/>
            <a:ext cx="2762250" cy="549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52647A"/>
                </a:solidFill>
                <a:latin typeface="Montserrat"/>
                <a:ea typeface="Montserrat"/>
                <a:cs typeface="Montserrat"/>
                <a:sym typeface="Montserrat"/>
              </a:rPr>
              <a:t>Recompute only impacted graph regions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573250" y="5257800"/>
            <a:ext cx="2762250" cy="549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52647A"/>
                </a:solidFill>
                <a:latin typeface="Montserrat"/>
                <a:ea typeface="Montserrat"/>
                <a:cs typeface="Montserrat"/>
                <a:sym typeface="Montserrat"/>
              </a:rPr>
              <a:t>Emit severity, cause and trace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2667000" y="7429500"/>
            <a:ext cx="12954000" cy="1238250"/>
            <a:chOff x="0" y="0"/>
            <a:chExt cx="17272000" cy="1651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272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7272000">
                  <a:moveTo>
                    <a:pt x="0" y="0"/>
                  </a:moveTo>
                  <a:lnTo>
                    <a:pt x="17272000" y="0"/>
                  </a:lnTo>
                  <a:lnTo>
                    <a:pt x="17272000" y="1651000"/>
                  </a:lnTo>
                  <a:lnTo>
                    <a:pt x="0" y="1651000"/>
                  </a:lnTo>
                  <a:close/>
                </a:path>
              </a:pathLst>
            </a:custGeom>
            <a:solidFill>
              <a:srgbClr val="0B1F3A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7272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143250" y="7667625"/>
            <a:ext cx="12001500" cy="762000"/>
            <a:chOff x="0" y="0"/>
            <a:chExt cx="16002000" cy="1016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002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6002000">
                  <a:moveTo>
                    <a:pt x="12095" y="0"/>
                  </a:moveTo>
                  <a:lnTo>
                    <a:pt x="15989905" y="0"/>
                  </a:lnTo>
                  <a:cubicBezTo>
                    <a:pt x="15993112" y="0"/>
                    <a:pt x="15996190" y="1274"/>
                    <a:pt x="15998458" y="3543"/>
                  </a:cubicBezTo>
                  <a:cubicBezTo>
                    <a:pt x="16000726" y="5811"/>
                    <a:pt x="16002000" y="8887"/>
                    <a:pt x="16002000" y="12095"/>
                  </a:cubicBezTo>
                  <a:lnTo>
                    <a:pt x="16002000" y="1003905"/>
                  </a:lnTo>
                  <a:cubicBezTo>
                    <a:pt x="16002000" y="1007113"/>
                    <a:pt x="16000726" y="1010189"/>
                    <a:pt x="15998458" y="1012457"/>
                  </a:cubicBezTo>
                  <a:cubicBezTo>
                    <a:pt x="15996190" y="1014726"/>
                    <a:pt x="15993112" y="1016000"/>
                    <a:pt x="15989905" y="1016000"/>
                  </a:cubicBezTo>
                  <a:lnTo>
                    <a:pt x="12095" y="1016000"/>
                  </a:lnTo>
                  <a:cubicBezTo>
                    <a:pt x="8887" y="1016000"/>
                    <a:pt x="5811" y="1014726"/>
                    <a:pt x="3543" y="1012457"/>
                  </a:cubicBezTo>
                  <a:cubicBezTo>
                    <a:pt x="1274" y="1010189"/>
                    <a:pt x="0" y="1007113"/>
                    <a:pt x="0" y="1003905"/>
                  </a:cubicBezTo>
                  <a:lnTo>
                    <a:pt x="0" y="12095"/>
                  </a:lnTo>
                  <a:cubicBezTo>
                    <a:pt x="0" y="8887"/>
                    <a:pt x="1274" y="5811"/>
                    <a:pt x="3543" y="3543"/>
                  </a:cubicBezTo>
                  <a:cubicBezTo>
                    <a:pt x="5811" y="1274"/>
                    <a:pt x="8887" y="0"/>
                    <a:pt x="12095" y="0"/>
                  </a:cubicBezTo>
                  <a:close/>
                </a:path>
              </a:pathLst>
            </a:custGeom>
            <a:solidFill>
              <a:srgbClr val="0B1F3A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16002000" cy="1006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OUTPUT  ·  affected prefix → changed validity → path delta → reachability confidence → evidence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B8C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781050"/>
            <a:ext cx="123825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Optimization Proposed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1581150"/>
            <a:ext cx="123825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52647A"/>
                </a:solidFill>
                <a:latin typeface="Montserrat"/>
                <a:ea typeface="Montserrat"/>
                <a:cs typeface="Montserrat"/>
                <a:sym typeface="Montserrat"/>
              </a:rPr>
              <a:t>Move from periodic global recomputation to targeted incremental analysis.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2500" y="2476500"/>
            <a:ext cx="4476750" cy="904875"/>
            <a:chOff x="0" y="0"/>
            <a:chExt cx="5969000" cy="1206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969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5969000">
                  <a:moveTo>
                    <a:pt x="0" y="0"/>
                  </a:moveTo>
                  <a:lnTo>
                    <a:pt x="5969000" y="0"/>
                  </a:lnTo>
                  <a:lnTo>
                    <a:pt x="5969000" y="1206500"/>
                  </a:lnTo>
                  <a:lnTo>
                    <a:pt x="0" y="1206500"/>
                  </a:lnTo>
                  <a:close/>
                </a:path>
              </a:pathLst>
            </a:custGeom>
            <a:solidFill>
              <a:srgbClr val="1F3FB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969000" cy="124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29250" y="2476500"/>
            <a:ext cx="5905500" cy="904875"/>
            <a:chOff x="0" y="0"/>
            <a:chExt cx="7874000" cy="1206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74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1206500"/>
                  </a:lnTo>
                  <a:lnTo>
                    <a:pt x="0" y="1206500"/>
                  </a:lnTo>
                  <a:close/>
                </a:path>
              </a:pathLst>
            </a:custGeom>
            <a:solidFill>
              <a:srgbClr val="1F3FB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874000" cy="124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334750" y="2476500"/>
            <a:ext cx="6000750" cy="904875"/>
            <a:chOff x="0" y="0"/>
            <a:chExt cx="8001000" cy="1206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01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8001000">
                  <a:moveTo>
                    <a:pt x="0" y="0"/>
                  </a:moveTo>
                  <a:lnTo>
                    <a:pt x="8001000" y="0"/>
                  </a:lnTo>
                  <a:lnTo>
                    <a:pt x="8001000" y="1206500"/>
                  </a:lnTo>
                  <a:lnTo>
                    <a:pt x="0" y="1206500"/>
                  </a:lnTo>
                  <a:close/>
                </a:path>
              </a:pathLst>
            </a:custGeom>
            <a:solidFill>
              <a:srgbClr val="22B8C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001000" cy="124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2500" y="3381375"/>
            <a:ext cx="4476750" cy="1104900"/>
            <a:chOff x="0" y="0"/>
            <a:chExt cx="5969000" cy="147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690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5969000">
                  <a:moveTo>
                    <a:pt x="0" y="0"/>
                  </a:moveTo>
                  <a:lnTo>
                    <a:pt x="5969000" y="0"/>
                  </a:lnTo>
                  <a:lnTo>
                    <a:pt x="5969000" y="1473200"/>
                  </a:lnTo>
                  <a:lnTo>
                    <a:pt x="0" y="1473200"/>
                  </a:lnTo>
                  <a:close/>
                </a:path>
              </a:pathLst>
            </a:custGeom>
            <a:solidFill>
              <a:srgbClr val="EEF3FF"/>
            </a:solidFill>
            <a:ln w="9525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969000" cy="151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429250" y="3381375"/>
            <a:ext cx="5905500" cy="1104900"/>
            <a:chOff x="0" y="0"/>
            <a:chExt cx="7874000" cy="147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8740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1473200"/>
                  </a:lnTo>
                  <a:lnTo>
                    <a:pt x="0" y="1473200"/>
                  </a:lnTo>
                  <a:close/>
                </a:path>
              </a:pathLst>
            </a:custGeom>
            <a:solidFill>
              <a:srgbClr val="EEF3FF"/>
            </a:solidFill>
            <a:ln w="9525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874000" cy="151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334750" y="3381375"/>
            <a:ext cx="6000750" cy="1104900"/>
            <a:chOff x="0" y="0"/>
            <a:chExt cx="8001000" cy="1473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0010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8001000">
                  <a:moveTo>
                    <a:pt x="0" y="0"/>
                  </a:moveTo>
                  <a:lnTo>
                    <a:pt x="8001000" y="0"/>
                  </a:lnTo>
                  <a:lnTo>
                    <a:pt x="8001000" y="1473200"/>
                  </a:lnTo>
                  <a:lnTo>
                    <a:pt x="0" y="1473200"/>
                  </a:lnTo>
                  <a:close/>
                </a:path>
              </a:pathLst>
            </a:custGeom>
            <a:solidFill>
              <a:srgbClr val="EEF3FF"/>
            </a:solidFill>
            <a:ln w="9525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001000" cy="151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52500" y="4486275"/>
            <a:ext cx="4476750" cy="1104900"/>
            <a:chOff x="0" y="0"/>
            <a:chExt cx="5969000" cy="1473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690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5969000">
                  <a:moveTo>
                    <a:pt x="0" y="0"/>
                  </a:moveTo>
                  <a:lnTo>
                    <a:pt x="5969000" y="0"/>
                  </a:lnTo>
                  <a:lnTo>
                    <a:pt x="5969000" y="1473200"/>
                  </a:lnTo>
                  <a:lnTo>
                    <a:pt x="0" y="1473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969000" cy="151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429250" y="4486275"/>
            <a:ext cx="5905500" cy="1104900"/>
            <a:chOff x="0" y="0"/>
            <a:chExt cx="7874000" cy="1473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8740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1473200"/>
                  </a:lnTo>
                  <a:lnTo>
                    <a:pt x="0" y="1473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874000" cy="151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334750" y="4486275"/>
            <a:ext cx="6000750" cy="1104900"/>
            <a:chOff x="0" y="0"/>
            <a:chExt cx="8001000" cy="1473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0010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8001000">
                  <a:moveTo>
                    <a:pt x="0" y="0"/>
                  </a:moveTo>
                  <a:lnTo>
                    <a:pt x="8001000" y="0"/>
                  </a:lnTo>
                  <a:lnTo>
                    <a:pt x="8001000" y="1473200"/>
                  </a:lnTo>
                  <a:lnTo>
                    <a:pt x="0" y="1473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8001000" cy="151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52500" y="5591175"/>
            <a:ext cx="4476750" cy="1104900"/>
            <a:chOff x="0" y="0"/>
            <a:chExt cx="5969000" cy="1473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9690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5969000">
                  <a:moveTo>
                    <a:pt x="0" y="0"/>
                  </a:moveTo>
                  <a:lnTo>
                    <a:pt x="5969000" y="0"/>
                  </a:lnTo>
                  <a:lnTo>
                    <a:pt x="5969000" y="1473200"/>
                  </a:lnTo>
                  <a:lnTo>
                    <a:pt x="0" y="1473200"/>
                  </a:lnTo>
                  <a:close/>
                </a:path>
              </a:pathLst>
            </a:custGeom>
            <a:solidFill>
              <a:srgbClr val="EEF3FF"/>
            </a:solidFill>
            <a:ln w="9525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969000" cy="151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429250" y="5591175"/>
            <a:ext cx="5905500" cy="1104900"/>
            <a:chOff x="0" y="0"/>
            <a:chExt cx="7874000" cy="1473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8740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1473200"/>
                  </a:lnTo>
                  <a:lnTo>
                    <a:pt x="0" y="1473200"/>
                  </a:lnTo>
                  <a:close/>
                </a:path>
              </a:pathLst>
            </a:custGeom>
            <a:solidFill>
              <a:srgbClr val="EEF3FF"/>
            </a:solidFill>
            <a:ln w="9525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874000" cy="151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334750" y="5591175"/>
            <a:ext cx="6000750" cy="1104900"/>
            <a:chOff x="0" y="0"/>
            <a:chExt cx="8001000" cy="1473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0010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8001000">
                  <a:moveTo>
                    <a:pt x="0" y="0"/>
                  </a:moveTo>
                  <a:lnTo>
                    <a:pt x="8001000" y="0"/>
                  </a:lnTo>
                  <a:lnTo>
                    <a:pt x="8001000" y="1473200"/>
                  </a:lnTo>
                  <a:lnTo>
                    <a:pt x="0" y="1473200"/>
                  </a:lnTo>
                  <a:close/>
                </a:path>
              </a:pathLst>
            </a:custGeom>
            <a:solidFill>
              <a:srgbClr val="EEF3FF"/>
            </a:solidFill>
            <a:ln w="9525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8001000" cy="151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52500" y="6696075"/>
            <a:ext cx="4476750" cy="1104900"/>
            <a:chOff x="0" y="0"/>
            <a:chExt cx="5969000" cy="1473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9690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5969000">
                  <a:moveTo>
                    <a:pt x="0" y="0"/>
                  </a:moveTo>
                  <a:lnTo>
                    <a:pt x="5969000" y="0"/>
                  </a:lnTo>
                  <a:lnTo>
                    <a:pt x="5969000" y="1473200"/>
                  </a:lnTo>
                  <a:lnTo>
                    <a:pt x="0" y="1473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5969000" cy="151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429250" y="6696075"/>
            <a:ext cx="5905500" cy="1104900"/>
            <a:chOff x="0" y="0"/>
            <a:chExt cx="7874000" cy="1473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8740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1473200"/>
                  </a:lnTo>
                  <a:lnTo>
                    <a:pt x="0" y="1473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7874000" cy="151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334750" y="6696075"/>
            <a:ext cx="6000750" cy="1104900"/>
            <a:chOff x="0" y="0"/>
            <a:chExt cx="8001000" cy="1473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0010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8001000">
                  <a:moveTo>
                    <a:pt x="0" y="0"/>
                  </a:moveTo>
                  <a:lnTo>
                    <a:pt x="8001000" y="0"/>
                  </a:lnTo>
                  <a:lnTo>
                    <a:pt x="8001000" y="1473200"/>
                  </a:lnTo>
                  <a:lnTo>
                    <a:pt x="0" y="1473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8001000" cy="151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52500" y="7800975"/>
            <a:ext cx="4476750" cy="1104900"/>
            <a:chOff x="0" y="0"/>
            <a:chExt cx="5969000" cy="1473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9690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5969000">
                  <a:moveTo>
                    <a:pt x="0" y="0"/>
                  </a:moveTo>
                  <a:lnTo>
                    <a:pt x="5969000" y="0"/>
                  </a:lnTo>
                  <a:lnTo>
                    <a:pt x="5969000" y="1473200"/>
                  </a:lnTo>
                  <a:lnTo>
                    <a:pt x="0" y="1473200"/>
                  </a:lnTo>
                  <a:close/>
                </a:path>
              </a:pathLst>
            </a:custGeom>
            <a:solidFill>
              <a:srgbClr val="EEF3FF"/>
            </a:solidFill>
            <a:ln w="9525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5969000" cy="151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429250" y="7800975"/>
            <a:ext cx="5905500" cy="1104900"/>
            <a:chOff x="0" y="0"/>
            <a:chExt cx="7874000" cy="14732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8740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1473200"/>
                  </a:lnTo>
                  <a:lnTo>
                    <a:pt x="0" y="1473200"/>
                  </a:lnTo>
                  <a:close/>
                </a:path>
              </a:pathLst>
            </a:custGeom>
            <a:solidFill>
              <a:srgbClr val="EEF3FF"/>
            </a:solidFill>
            <a:ln w="9525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7874000" cy="151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334750" y="7800975"/>
            <a:ext cx="6000750" cy="1104900"/>
            <a:chOff x="0" y="0"/>
            <a:chExt cx="8001000" cy="1473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0010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8001000">
                  <a:moveTo>
                    <a:pt x="0" y="0"/>
                  </a:moveTo>
                  <a:lnTo>
                    <a:pt x="8001000" y="0"/>
                  </a:lnTo>
                  <a:lnTo>
                    <a:pt x="8001000" y="1473200"/>
                  </a:lnTo>
                  <a:lnTo>
                    <a:pt x="0" y="1473200"/>
                  </a:lnTo>
                  <a:close/>
                </a:path>
              </a:pathLst>
            </a:custGeom>
            <a:solidFill>
              <a:srgbClr val="EEF3FF"/>
            </a:solidFill>
            <a:ln w="9525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8001000" cy="151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181100" y="2714625"/>
            <a:ext cx="40195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DIMENSION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657850" y="2714625"/>
            <a:ext cx="54483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BEFORE · NAIVE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563350" y="2714625"/>
            <a:ext cx="55435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AFTER · PROPOSED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81100" y="3619500"/>
            <a:ext cx="40195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52647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Trigger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657850" y="3619500"/>
            <a:ext cx="54483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2647A"/>
                </a:solidFill>
                <a:latin typeface="Montserrat"/>
                <a:ea typeface="Montserrat"/>
                <a:cs typeface="Montserrat"/>
                <a:sym typeface="Montserrat"/>
              </a:rPr>
              <a:t>Periodic full scan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563350" y="3619500"/>
            <a:ext cx="55435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B1F3A"/>
                </a:solidFill>
                <a:latin typeface="Montserrat"/>
                <a:ea typeface="Montserrat"/>
                <a:cs typeface="Montserrat"/>
                <a:sym typeface="Montserrat"/>
              </a:rPr>
              <a:t>Event-driven state diff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81100" y="4724400"/>
            <a:ext cx="40195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52647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Scope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5657850" y="4724400"/>
            <a:ext cx="54483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2647A"/>
                </a:solidFill>
                <a:latin typeface="Montserrat"/>
                <a:ea typeface="Montserrat"/>
                <a:cs typeface="Montserrat"/>
                <a:sym typeface="Montserrat"/>
              </a:rPr>
              <a:t>All prefixes and paths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563350" y="4724400"/>
            <a:ext cx="55435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B1F3A"/>
                </a:solidFill>
                <a:latin typeface="Montserrat"/>
                <a:ea typeface="Montserrat"/>
                <a:cs typeface="Montserrat"/>
                <a:sym typeface="Montserrat"/>
              </a:rPr>
              <a:t>Impacted prefix / origin subgraph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181100" y="5829300"/>
            <a:ext cx="40195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52647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Computation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5657850" y="5829300"/>
            <a:ext cx="54483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2647A"/>
                </a:solidFill>
                <a:latin typeface="Montserrat"/>
                <a:ea typeface="Montserrat"/>
                <a:cs typeface="Montserrat"/>
                <a:sym typeface="Montserrat"/>
              </a:rPr>
              <a:t>Repeated graph rebuild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1563350" y="5829300"/>
            <a:ext cx="55435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B1F3A"/>
                </a:solidFill>
                <a:latin typeface="Montserrat"/>
                <a:ea typeface="Montserrat"/>
                <a:cs typeface="Montserrat"/>
                <a:sym typeface="Montserrat"/>
              </a:rPr>
              <a:t>Cached indices + incremental update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181100" y="6934200"/>
            <a:ext cx="40195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52647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5657850" y="6934200"/>
            <a:ext cx="54483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2647A"/>
                </a:solidFill>
                <a:latin typeface="Montserrat"/>
                <a:ea typeface="Montserrat"/>
                <a:cs typeface="Montserrat"/>
                <a:sym typeface="Montserrat"/>
              </a:rPr>
              <a:t>Validity snapshot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1563350" y="6934200"/>
            <a:ext cx="55435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B1F3A"/>
                </a:solidFill>
                <a:latin typeface="Montserrat"/>
                <a:ea typeface="Montserrat"/>
                <a:cs typeface="Montserrat"/>
                <a:sym typeface="Montserrat"/>
              </a:rPr>
              <a:t>Path delta + reachability evidence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81100" y="8039100"/>
            <a:ext cx="40195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52647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Operator value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5657850" y="8039100"/>
            <a:ext cx="54483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2647A"/>
                </a:solidFill>
                <a:latin typeface="Montserrat"/>
                <a:ea typeface="Montserrat"/>
                <a:cs typeface="Montserrat"/>
                <a:sym typeface="Montserrat"/>
              </a:rPr>
              <a:t>Slow, noisy triage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1563350" y="8039100"/>
            <a:ext cx="55435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B1F3A"/>
                </a:solidFill>
                <a:latin typeface="Montserrat"/>
                <a:ea typeface="Montserrat"/>
                <a:cs typeface="Montserrat"/>
                <a:sym typeface="Montserrat"/>
              </a:rPr>
              <a:t>Ranked, explainable alerts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B8C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628650"/>
            <a:ext cx="142875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 Architecture and Design</a:t>
            </a:r>
          </a:p>
        </p:txBody>
      </p:sp>
      <p:sp>
        <p:nvSpPr>
          <p:cNvPr name="AutoShape 6" id="6"/>
          <p:cNvSpPr/>
          <p:nvPr/>
        </p:nvSpPr>
        <p:spPr>
          <a:xfrm>
            <a:off x="3429000" y="2952750"/>
            <a:ext cx="1333500" cy="1143000"/>
          </a:xfrm>
          <a:prstGeom prst="line">
            <a:avLst/>
          </a:prstGeom>
          <a:ln cap="rnd" w="28575">
            <a:solidFill>
              <a:srgbClr val="22B8C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 flipV="true">
            <a:off x="3429000" y="4429125"/>
            <a:ext cx="1333500" cy="619125"/>
          </a:xfrm>
          <a:prstGeom prst="line">
            <a:avLst/>
          </a:prstGeom>
          <a:ln cap="rnd" w="28575">
            <a:solidFill>
              <a:srgbClr val="22B8C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 flipV="true">
            <a:off x="3429000" y="4762500"/>
            <a:ext cx="1333500" cy="2381250"/>
          </a:xfrm>
          <a:prstGeom prst="line">
            <a:avLst/>
          </a:prstGeom>
          <a:ln cap="rnd" w="28575">
            <a:solidFill>
              <a:srgbClr val="22B8C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 flipV="true">
            <a:off x="7715250" y="2809875"/>
            <a:ext cx="1238250" cy="1285875"/>
          </a:xfrm>
          <a:prstGeom prst="line">
            <a:avLst/>
          </a:prstGeom>
          <a:ln cap="rnd" w="28575">
            <a:solidFill>
              <a:srgbClr val="22B8C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" id="10"/>
          <p:cNvSpPr/>
          <p:nvPr/>
        </p:nvSpPr>
        <p:spPr>
          <a:xfrm>
            <a:off x="7715250" y="4429125"/>
            <a:ext cx="1238250" cy="476250"/>
          </a:xfrm>
          <a:prstGeom prst="line">
            <a:avLst/>
          </a:prstGeom>
          <a:ln cap="rnd" w="28575">
            <a:solidFill>
              <a:srgbClr val="22B8C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>
            <a:off x="7715250" y="4762500"/>
            <a:ext cx="1238250" cy="2238375"/>
          </a:xfrm>
          <a:prstGeom prst="line">
            <a:avLst/>
          </a:prstGeom>
          <a:ln cap="rnd" w="28575">
            <a:solidFill>
              <a:srgbClr val="22B8C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2" id="12"/>
          <p:cNvSpPr/>
          <p:nvPr/>
        </p:nvSpPr>
        <p:spPr>
          <a:xfrm>
            <a:off x="12096750" y="2809875"/>
            <a:ext cx="1714500" cy="1857375"/>
          </a:xfrm>
          <a:prstGeom prst="line">
            <a:avLst/>
          </a:prstGeom>
          <a:ln cap="rnd" w="28575">
            <a:solidFill>
              <a:srgbClr val="22B8C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>
            <a:off x="12096750" y="4905375"/>
            <a:ext cx="1714500" cy="95250"/>
          </a:xfrm>
          <a:prstGeom prst="line">
            <a:avLst/>
          </a:prstGeom>
          <a:ln cap="rnd" w="28575">
            <a:solidFill>
              <a:srgbClr val="22B8C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4" id="14"/>
          <p:cNvSpPr/>
          <p:nvPr/>
        </p:nvSpPr>
        <p:spPr>
          <a:xfrm flipV="true">
            <a:off x="12096750" y="5334000"/>
            <a:ext cx="1714500" cy="1666875"/>
          </a:xfrm>
          <a:prstGeom prst="line">
            <a:avLst/>
          </a:prstGeom>
          <a:ln cap="rnd" w="28575">
            <a:solidFill>
              <a:srgbClr val="22B8C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0">
            <a:off x="857250" y="2381250"/>
            <a:ext cx="2571750" cy="1143000"/>
            <a:chOff x="0" y="0"/>
            <a:chExt cx="3429000" cy="1524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29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429000">
                  <a:moveTo>
                    <a:pt x="56444" y="0"/>
                  </a:moveTo>
                  <a:lnTo>
                    <a:pt x="3372555" y="0"/>
                  </a:lnTo>
                  <a:cubicBezTo>
                    <a:pt x="3387525" y="0"/>
                    <a:pt x="3401882" y="5947"/>
                    <a:pt x="3412468" y="16532"/>
                  </a:cubicBezTo>
                  <a:cubicBezTo>
                    <a:pt x="3423053" y="27118"/>
                    <a:pt x="3429000" y="41474"/>
                    <a:pt x="3429000" y="56444"/>
                  </a:cubicBezTo>
                  <a:lnTo>
                    <a:pt x="3429000" y="1467556"/>
                  </a:lnTo>
                  <a:cubicBezTo>
                    <a:pt x="3429000" y="1482526"/>
                    <a:pt x="3423053" y="1496882"/>
                    <a:pt x="3412468" y="1507468"/>
                  </a:cubicBezTo>
                  <a:cubicBezTo>
                    <a:pt x="3401882" y="1518053"/>
                    <a:pt x="3387525" y="1524000"/>
                    <a:pt x="3372555" y="1524000"/>
                  </a:cubicBezTo>
                  <a:lnTo>
                    <a:pt x="56444" y="1524000"/>
                  </a:lnTo>
                  <a:cubicBezTo>
                    <a:pt x="41474" y="1524000"/>
                    <a:pt x="27118" y="1518053"/>
                    <a:pt x="16532" y="1507468"/>
                  </a:cubicBezTo>
                  <a:cubicBezTo>
                    <a:pt x="5947" y="1496882"/>
                    <a:pt x="0" y="1482526"/>
                    <a:pt x="0" y="14675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EEF3FF"/>
            </a:solidFill>
            <a:ln w="19050" cap="sq">
              <a:solidFill>
                <a:srgbClr val="1F3FB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34290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F3F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RPKI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F3F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VALIDATOR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57250" y="4476750"/>
            <a:ext cx="2571750" cy="1143000"/>
            <a:chOff x="0" y="0"/>
            <a:chExt cx="3429000" cy="152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29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429000">
                  <a:moveTo>
                    <a:pt x="56444" y="0"/>
                  </a:moveTo>
                  <a:lnTo>
                    <a:pt x="3372555" y="0"/>
                  </a:lnTo>
                  <a:cubicBezTo>
                    <a:pt x="3387525" y="0"/>
                    <a:pt x="3401882" y="5947"/>
                    <a:pt x="3412468" y="16532"/>
                  </a:cubicBezTo>
                  <a:cubicBezTo>
                    <a:pt x="3423053" y="27118"/>
                    <a:pt x="3429000" y="41474"/>
                    <a:pt x="3429000" y="56444"/>
                  </a:cubicBezTo>
                  <a:lnTo>
                    <a:pt x="3429000" y="1467556"/>
                  </a:lnTo>
                  <a:cubicBezTo>
                    <a:pt x="3429000" y="1482526"/>
                    <a:pt x="3423053" y="1496882"/>
                    <a:pt x="3412468" y="1507468"/>
                  </a:cubicBezTo>
                  <a:cubicBezTo>
                    <a:pt x="3401882" y="1518053"/>
                    <a:pt x="3387525" y="1524000"/>
                    <a:pt x="3372555" y="1524000"/>
                  </a:cubicBezTo>
                  <a:lnTo>
                    <a:pt x="56444" y="1524000"/>
                  </a:lnTo>
                  <a:cubicBezTo>
                    <a:pt x="41474" y="1524000"/>
                    <a:pt x="27118" y="1518053"/>
                    <a:pt x="16532" y="1507468"/>
                  </a:cubicBezTo>
                  <a:cubicBezTo>
                    <a:pt x="5947" y="1496882"/>
                    <a:pt x="0" y="1482526"/>
                    <a:pt x="0" y="14675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EEF3FF"/>
            </a:solidFill>
            <a:ln w="19050" cap="sq">
              <a:solidFill>
                <a:srgbClr val="1F3FB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34290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F3F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BGP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F3F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COLLECTOR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57250" y="6572250"/>
            <a:ext cx="2571750" cy="1143000"/>
            <a:chOff x="0" y="0"/>
            <a:chExt cx="3429000" cy="1524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29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429000">
                  <a:moveTo>
                    <a:pt x="56444" y="0"/>
                  </a:moveTo>
                  <a:lnTo>
                    <a:pt x="3372555" y="0"/>
                  </a:lnTo>
                  <a:cubicBezTo>
                    <a:pt x="3387525" y="0"/>
                    <a:pt x="3401882" y="5947"/>
                    <a:pt x="3412468" y="16532"/>
                  </a:cubicBezTo>
                  <a:cubicBezTo>
                    <a:pt x="3423053" y="27118"/>
                    <a:pt x="3429000" y="41474"/>
                    <a:pt x="3429000" y="56444"/>
                  </a:cubicBezTo>
                  <a:lnTo>
                    <a:pt x="3429000" y="1467556"/>
                  </a:lnTo>
                  <a:cubicBezTo>
                    <a:pt x="3429000" y="1482526"/>
                    <a:pt x="3423053" y="1496882"/>
                    <a:pt x="3412468" y="1507468"/>
                  </a:cubicBezTo>
                  <a:cubicBezTo>
                    <a:pt x="3401882" y="1518053"/>
                    <a:pt x="3387525" y="1524000"/>
                    <a:pt x="3372555" y="1524000"/>
                  </a:cubicBezTo>
                  <a:lnTo>
                    <a:pt x="56444" y="1524000"/>
                  </a:lnTo>
                  <a:cubicBezTo>
                    <a:pt x="41474" y="1524000"/>
                    <a:pt x="27118" y="1518053"/>
                    <a:pt x="16532" y="1507468"/>
                  </a:cubicBezTo>
                  <a:cubicBezTo>
                    <a:pt x="5947" y="1496882"/>
                    <a:pt x="0" y="1482526"/>
                    <a:pt x="0" y="14675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EEF3FF"/>
            </a:solidFill>
            <a:ln w="19050" cap="sq">
              <a:solidFill>
                <a:srgbClr val="1F3FB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34290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F3F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POLICY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F3F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PROFILE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762500" y="3714750"/>
            <a:ext cx="2952750" cy="1428750"/>
            <a:chOff x="0" y="0"/>
            <a:chExt cx="3937000" cy="1905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37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937000">
                  <a:moveTo>
                    <a:pt x="49161" y="0"/>
                  </a:moveTo>
                  <a:lnTo>
                    <a:pt x="3887839" y="0"/>
                  </a:lnTo>
                  <a:cubicBezTo>
                    <a:pt x="3900877" y="0"/>
                    <a:pt x="3913381" y="5179"/>
                    <a:pt x="3922601" y="14399"/>
                  </a:cubicBezTo>
                  <a:cubicBezTo>
                    <a:pt x="3931820" y="23619"/>
                    <a:pt x="3937000" y="36123"/>
                    <a:pt x="3937000" y="49161"/>
                  </a:cubicBezTo>
                  <a:lnTo>
                    <a:pt x="3937000" y="1855839"/>
                  </a:lnTo>
                  <a:cubicBezTo>
                    <a:pt x="3937000" y="1868877"/>
                    <a:pt x="3931820" y="1881381"/>
                    <a:pt x="3922601" y="1890601"/>
                  </a:cubicBezTo>
                  <a:cubicBezTo>
                    <a:pt x="3913381" y="1899820"/>
                    <a:pt x="3900877" y="1905000"/>
                    <a:pt x="3887839" y="1905000"/>
                  </a:cubicBezTo>
                  <a:lnTo>
                    <a:pt x="49161" y="1905000"/>
                  </a:lnTo>
                  <a:cubicBezTo>
                    <a:pt x="36123" y="1905000"/>
                    <a:pt x="23619" y="1899820"/>
                    <a:pt x="14399" y="1890601"/>
                  </a:cubicBezTo>
                  <a:cubicBezTo>
                    <a:pt x="5179" y="1881381"/>
                    <a:pt x="0" y="1868877"/>
                    <a:pt x="0" y="1855839"/>
                  </a:cubicBezTo>
                  <a:lnTo>
                    <a:pt x="0" y="49161"/>
                  </a:lnTo>
                  <a:cubicBezTo>
                    <a:pt x="0" y="36123"/>
                    <a:pt x="5179" y="23619"/>
                    <a:pt x="14399" y="14399"/>
                  </a:cubicBezTo>
                  <a:cubicBezTo>
                    <a:pt x="23619" y="5179"/>
                    <a:pt x="36123" y="0"/>
                    <a:pt x="49161" y="0"/>
                  </a:cubicBezTo>
                  <a:close/>
                </a:path>
              </a:pathLst>
            </a:custGeom>
            <a:solidFill>
              <a:srgbClr val="E8F8FA"/>
            </a:solidFill>
            <a:ln w="19050" cap="sq">
              <a:solidFill>
                <a:srgbClr val="0B1F3A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3937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0B1F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EVENT NORMALIZER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953500" y="2190750"/>
            <a:ext cx="3143250" cy="1238250"/>
            <a:chOff x="0" y="0"/>
            <a:chExt cx="4191000" cy="1651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46182" y="0"/>
                  </a:moveTo>
                  <a:lnTo>
                    <a:pt x="4144818" y="0"/>
                  </a:lnTo>
                  <a:cubicBezTo>
                    <a:pt x="4170324" y="0"/>
                    <a:pt x="4191000" y="20676"/>
                    <a:pt x="4191000" y="46182"/>
                  </a:cubicBezTo>
                  <a:lnTo>
                    <a:pt x="4191000" y="1604818"/>
                  </a:lnTo>
                  <a:cubicBezTo>
                    <a:pt x="4191000" y="1630324"/>
                    <a:pt x="4170324" y="1651000"/>
                    <a:pt x="4144818" y="1651000"/>
                  </a:cubicBezTo>
                  <a:lnTo>
                    <a:pt x="46182" y="1651000"/>
                  </a:lnTo>
                  <a:cubicBezTo>
                    <a:pt x="20676" y="1651000"/>
                    <a:pt x="0" y="1630324"/>
                    <a:pt x="0" y="1604818"/>
                  </a:cubicBezTo>
                  <a:lnTo>
                    <a:pt x="0" y="46182"/>
                  </a:lnTo>
                  <a:cubicBezTo>
                    <a:pt x="0" y="20676"/>
                    <a:pt x="20676" y="0"/>
                    <a:pt x="46182" y="0"/>
                  </a:cubicBezTo>
                  <a:close/>
                </a:path>
              </a:pathLst>
            </a:custGeom>
            <a:solidFill>
              <a:srgbClr val="EEF3FF"/>
            </a:solidFill>
            <a:ln w="19050" cap="sq">
              <a:solidFill>
                <a:srgbClr val="1F3FB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41910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F3F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STATE DIFF ENGINE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953500" y="4286250"/>
            <a:ext cx="3143250" cy="1238250"/>
            <a:chOff x="0" y="0"/>
            <a:chExt cx="4191000" cy="1651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46182" y="0"/>
                  </a:moveTo>
                  <a:lnTo>
                    <a:pt x="4144818" y="0"/>
                  </a:lnTo>
                  <a:cubicBezTo>
                    <a:pt x="4170324" y="0"/>
                    <a:pt x="4191000" y="20676"/>
                    <a:pt x="4191000" y="46182"/>
                  </a:cubicBezTo>
                  <a:lnTo>
                    <a:pt x="4191000" y="1604818"/>
                  </a:lnTo>
                  <a:cubicBezTo>
                    <a:pt x="4191000" y="1630324"/>
                    <a:pt x="4170324" y="1651000"/>
                    <a:pt x="4144818" y="1651000"/>
                  </a:cubicBezTo>
                  <a:lnTo>
                    <a:pt x="46182" y="1651000"/>
                  </a:lnTo>
                  <a:cubicBezTo>
                    <a:pt x="20676" y="1651000"/>
                    <a:pt x="0" y="1630324"/>
                    <a:pt x="0" y="1604818"/>
                  </a:cubicBezTo>
                  <a:lnTo>
                    <a:pt x="0" y="46182"/>
                  </a:lnTo>
                  <a:cubicBezTo>
                    <a:pt x="0" y="20676"/>
                    <a:pt x="20676" y="0"/>
                    <a:pt x="46182" y="0"/>
                  </a:cubicBezTo>
                  <a:close/>
                </a:path>
              </a:pathLst>
            </a:custGeom>
            <a:solidFill>
              <a:srgbClr val="EEF3FF"/>
            </a:solidFill>
            <a:ln w="19050" cap="sq">
              <a:solidFill>
                <a:srgbClr val="1F3FB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41910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F3F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PATH GRAPH STORE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953500" y="6381750"/>
            <a:ext cx="3143250" cy="1238250"/>
            <a:chOff x="0" y="0"/>
            <a:chExt cx="4191000" cy="1651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46182" y="0"/>
                  </a:moveTo>
                  <a:lnTo>
                    <a:pt x="4144818" y="0"/>
                  </a:lnTo>
                  <a:cubicBezTo>
                    <a:pt x="4170324" y="0"/>
                    <a:pt x="4191000" y="20676"/>
                    <a:pt x="4191000" y="46182"/>
                  </a:cubicBezTo>
                  <a:lnTo>
                    <a:pt x="4191000" y="1604818"/>
                  </a:lnTo>
                  <a:cubicBezTo>
                    <a:pt x="4191000" y="1630324"/>
                    <a:pt x="4170324" y="1651000"/>
                    <a:pt x="4144818" y="1651000"/>
                  </a:cubicBezTo>
                  <a:lnTo>
                    <a:pt x="46182" y="1651000"/>
                  </a:lnTo>
                  <a:cubicBezTo>
                    <a:pt x="20676" y="1651000"/>
                    <a:pt x="0" y="1630324"/>
                    <a:pt x="0" y="1604818"/>
                  </a:cubicBezTo>
                  <a:lnTo>
                    <a:pt x="0" y="46182"/>
                  </a:lnTo>
                  <a:cubicBezTo>
                    <a:pt x="0" y="20676"/>
                    <a:pt x="20676" y="0"/>
                    <a:pt x="46182" y="0"/>
                  </a:cubicBezTo>
                  <a:close/>
                </a:path>
              </a:pathLst>
            </a:custGeom>
            <a:solidFill>
              <a:srgbClr val="E8F8FA"/>
            </a:solidFill>
            <a:ln w="19050" cap="sq">
              <a:solidFill>
                <a:srgbClr val="0B1F3A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41910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0B1F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REACHABILITY ANALYZER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811250" y="4286250"/>
            <a:ext cx="3143250" cy="1428750"/>
            <a:chOff x="0" y="0"/>
            <a:chExt cx="4191000" cy="1905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91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191000">
                  <a:moveTo>
                    <a:pt x="46182" y="0"/>
                  </a:moveTo>
                  <a:lnTo>
                    <a:pt x="4144818" y="0"/>
                  </a:lnTo>
                  <a:cubicBezTo>
                    <a:pt x="4170324" y="0"/>
                    <a:pt x="4191000" y="20676"/>
                    <a:pt x="4191000" y="46182"/>
                  </a:cubicBezTo>
                  <a:lnTo>
                    <a:pt x="4191000" y="1858818"/>
                  </a:lnTo>
                  <a:cubicBezTo>
                    <a:pt x="4191000" y="1884324"/>
                    <a:pt x="4170324" y="1905000"/>
                    <a:pt x="4144818" y="1905000"/>
                  </a:cubicBezTo>
                  <a:lnTo>
                    <a:pt x="46182" y="1905000"/>
                  </a:lnTo>
                  <a:cubicBezTo>
                    <a:pt x="20676" y="1905000"/>
                    <a:pt x="0" y="1884324"/>
                    <a:pt x="0" y="1858818"/>
                  </a:cubicBezTo>
                  <a:lnTo>
                    <a:pt x="0" y="46182"/>
                  </a:lnTo>
                  <a:cubicBezTo>
                    <a:pt x="0" y="20676"/>
                    <a:pt x="20676" y="0"/>
                    <a:pt x="46182" y="0"/>
                  </a:cubicBezTo>
                  <a:close/>
                </a:path>
              </a:pathLst>
            </a:custGeom>
            <a:solidFill>
              <a:srgbClr val="0B1F3A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9525"/>
              <a:ext cx="4191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EXPLANATION API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52500" y="9496425"/>
            <a:ext cx="85725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52647A"/>
                </a:solidFill>
                <a:latin typeface="Montserrat"/>
                <a:ea typeface="Montserrat"/>
                <a:cs typeface="Montserrat"/>
                <a:sym typeface="Montserrat"/>
              </a:rPr>
              <a:t>Figure: System Architecture UML Diagram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B8C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628650"/>
            <a:ext cx="114300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Flow Diagram</a:t>
            </a:r>
          </a:p>
        </p:txBody>
      </p:sp>
      <p:sp>
        <p:nvSpPr>
          <p:cNvPr name="AutoShape 6" id="6"/>
          <p:cNvSpPr/>
          <p:nvPr/>
        </p:nvSpPr>
        <p:spPr>
          <a:xfrm>
            <a:off x="3143250" y="2905125"/>
            <a:ext cx="1428750" cy="0"/>
          </a:xfrm>
          <a:prstGeom prst="line">
            <a:avLst/>
          </a:prstGeom>
          <a:ln cap="rnd" w="28575">
            <a:solidFill>
              <a:srgbClr val="22B8C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 flipV="true">
            <a:off x="3143250" y="5238750"/>
            <a:ext cx="5429250" cy="1476375"/>
          </a:xfrm>
          <a:prstGeom prst="line">
            <a:avLst/>
          </a:prstGeom>
          <a:ln cap="rnd" w="28575">
            <a:solidFill>
              <a:srgbClr val="22B8C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>
            <a:off x="7239000" y="3000375"/>
            <a:ext cx="1333500" cy="1619250"/>
          </a:xfrm>
          <a:prstGeom prst="line">
            <a:avLst/>
          </a:prstGeom>
          <a:ln cap="rnd" w="28575">
            <a:solidFill>
              <a:srgbClr val="22B8C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 flipV="true">
            <a:off x="11239500" y="3000375"/>
            <a:ext cx="1333500" cy="1619250"/>
          </a:xfrm>
          <a:prstGeom prst="line">
            <a:avLst/>
          </a:prstGeom>
          <a:ln cap="rnd" w="28575">
            <a:solidFill>
              <a:srgbClr val="22B8C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" id="10"/>
          <p:cNvSpPr/>
          <p:nvPr/>
        </p:nvSpPr>
        <p:spPr>
          <a:xfrm>
            <a:off x="15240000" y="3000375"/>
            <a:ext cx="1095375" cy="3190875"/>
          </a:xfrm>
          <a:prstGeom prst="line">
            <a:avLst/>
          </a:prstGeom>
          <a:ln cap="rnd" w="28575">
            <a:solidFill>
              <a:srgbClr val="22B8C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>
            <a:off x="5905500" y="3619500"/>
            <a:ext cx="0" cy="3238500"/>
          </a:xfrm>
          <a:prstGeom prst="line">
            <a:avLst/>
          </a:prstGeom>
          <a:ln cap="rnd" w="28575">
            <a:solidFill>
              <a:srgbClr val="22B8C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2" id="12"/>
          <p:cNvSpPr/>
          <p:nvPr/>
        </p:nvSpPr>
        <p:spPr>
          <a:xfrm>
            <a:off x="9906000" y="5524500"/>
            <a:ext cx="1524000" cy="1333500"/>
          </a:xfrm>
          <a:prstGeom prst="line">
            <a:avLst/>
          </a:prstGeom>
          <a:ln cap="rnd" w="28575">
            <a:solidFill>
              <a:srgbClr val="22B8C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>
            <a:off x="7429500" y="7334250"/>
            <a:ext cx="2857500" cy="0"/>
          </a:xfrm>
          <a:prstGeom prst="line">
            <a:avLst/>
          </a:prstGeom>
          <a:ln cap="rnd" w="28575">
            <a:solidFill>
              <a:srgbClr val="22B8C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4" id="14"/>
          <p:cNvSpPr/>
          <p:nvPr/>
        </p:nvSpPr>
        <p:spPr>
          <a:xfrm flipV="true">
            <a:off x="13144500" y="6715125"/>
            <a:ext cx="2000250" cy="619125"/>
          </a:xfrm>
          <a:prstGeom prst="line">
            <a:avLst/>
          </a:prstGeom>
          <a:ln cap="rnd" w="28575">
            <a:solidFill>
              <a:srgbClr val="22B8C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0">
            <a:off x="762000" y="2381250"/>
            <a:ext cx="2381250" cy="1047750"/>
            <a:chOff x="0" y="0"/>
            <a:chExt cx="3175000" cy="1397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7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175000">
                  <a:moveTo>
                    <a:pt x="60960" y="0"/>
                  </a:moveTo>
                  <a:lnTo>
                    <a:pt x="3114040" y="0"/>
                  </a:lnTo>
                  <a:cubicBezTo>
                    <a:pt x="3130208" y="0"/>
                    <a:pt x="3145713" y="6423"/>
                    <a:pt x="3157145" y="17855"/>
                  </a:cubicBezTo>
                  <a:cubicBezTo>
                    <a:pt x="3168578" y="29287"/>
                    <a:pt x="3175000" y="44792"/>
                    <a:pt x="3175000" y="60960"/>
                  </a:cubicBezTo>
                  <a:lnTo>
                    <a:pt x="3175000" y="1336040"/>
                  </a:lnTo>
                  <a:cubicBezTo>
                    <a:pt x="3175000" y="1369707"/>
                    <a:pt x="3147707" y="1397000"/>
                    <a:pt x="3114040" y="1397000"/>
                  </a:cubicBezTo>
                  <a:lnTo>
                    <a:pt x="60960" y="1397000"/>
                  </a:lnTo>
                  <a:cubicBezTo>
                    <a:pt x="27293" y="1397000"/>
                    <a:pt x="0" y="1369707"/>
                    <a:pt x="0" y="1336040"/>
                  </a:cubicBezTo>
                  <a:lnTo>
                    <a:pt x="0" y="60960"/>
                  </a:lnTo>
                  <a:cubicBezTo>
                    <a:pt x="0" y="27293"/>
                    <a:pt x="27293" y="0"/>
                    <a:pt x="609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F3FB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31750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F3F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RPKI FEED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" y="6191250"/>
            <a:ext cx="2381250" cy="1047750"/>
            <a:chOff x="0" y="0"/>
            <a:chExt cx="3175000" cy="1397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7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175000">
                  <a:moveTo>
                    <a:pt x="60960" y="0"/>
                  </a:moveTo>
                  <a:lnTo>
                    <a:pt x="3114040" y="0"/>
                  </a:lnTo>
                  <a:cubicBezTo>
                    <a:pt x="3130208" y="0"/>
                    <a:pt x="3145713" y="6423"/>
                    <a:pt x="3157145" y="17855"/>
                  </a:cubicBezTo>
                  <a:cubicBezTo>
                    <a:pt x="3168578" y="29287"/>
                    <a:pt x="3175000" y="44792"/>
                    <a:pt x="3175000" y="60960"/>
                  </a:cubicBezTo>
                  <a:lnTo>
                    <a:pt x="3175000" y="1336040"/>
                  </a:lnTo>
                  <a:cubicBezTo>
                    <a:pt x="3175000" y="1369707"/>
                    <a:pt x="3147707" y="1397000"/>
                    <a:pt x="3114040" y="1397000"/>
                  </a:cubicBezTo>
                  <a:lnTo>
                    <a:pt x="60960" y="1397000"/>
                  </a:lnTo>
                  <a:cubicBezTo>
                    <a:pt x="27293" y="1397000"/>
                    <a:pt x="0" y="1369707"/>
                    <a:pt x="0" y="1336040"/>
                  </a:cubicBezTo>
                  <a:lnTo>
                    <a:pt x="0" y="60960"/>
                  </a:lnTo>
                  <a:cubicBezTo>
                    <a:pt x="0" y="27293"/>
                    <a:pt x="27293" y="0"/>
                    <a:pt x="609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F3FB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31750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F3F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BGP FEED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572000" y="2381250"/>
            <a:ext cx="2667000" cy="1238250"/>
            <a:chOff x="0" y="0"/>
            <a:chExt cx="3556000" cy="165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56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556000">
                  <a:moveTo>
                    <a:pt x="54429" y="0"/>
                  </a:moveTo>
                  <a:lnTo>
                    <a:pt x="3501572" y="0"/>
                  </a:lnTo>
                  <a:cubicBezTo>
                    <a:pt x="3531631" y="0"/>
                    <a:pt x="3556000" y="24369"/>
                    <a:pt x="3556000" y="54429"/>
                  </a:cubicBezTo>
                  <a:lnTo>
                    <a:pt x="3556000" y="1596571"/>
                  </a:lnTo>
                  <a:cubicBezTo>
                    <a:pt x="3556000" y="1626632"/>
                    <a:pt x="3531631" y="1651000"/>
                    <a:pt x="3501572" y="1651000"/>
                  </a:cubicBezTo>
                  <a:lnTo>
                    <a:pt x="54429" y="1651000"/>
                  </a:lnTo>
                  <a:cubicBezTo>
                    <a:pt x="24369" y="1651000"/>
                    <a:pt x="0" y="1626632"/>
                    <a:pt x="0" y="15965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EEF3FF"/>
            </a:solidFill>
            <a:ln w="19050" cap="sq">
              <a:solidFill>
                <a:srgbClr val="1F3FB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35560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F3F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1.0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F3F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NORMALIZE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572500" y="4286250"/>
            <a:ext cx="2667000" cy="1238250"/>
            <a:chOff x="0" y="0"/>
            <a:chExt cx="3556000" cy="1651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56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556000">
                  <a:moveTo>
                    <a:pt x="54429" y="0"/>
                  </a:moveTo>
                  <a:lnTo>
                    <a:pt x="3501572" y="0"/>
                  </a:lnTo>
                  <a:cubicBezTo>
                    <a:pt x="3531631" y="0"/>
                    <a:pt x="3556000" y="24369"/>
                    <a:pt x="3556000" y="54429"/>
                  </a:cubicBezTo>
                  <a:lnTo>
                    <a:pt x="3556000" y="1596571"/>
                  </a:lnTo>
                  <a:cubicBezTo>
                    <a:pt x="3556000" y="1626632"/>
                    <a:pt x="3531631" y="1651000"/>
                    <a:pt x="3501572" y="1651000"/>
                  </a:cubicBezTo>
                  <a:lnTo>
                    <a:pt x="54429" y="1651000"/>
                  </a:lnTo>
                  <a:cubicBezTo>
                    <a:pt x="24369" y="1651000"/>
                    <a:pt x="0" y="1626632"/>
                    <a:pt x="0" y="15965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E8F8FA"/>
            </a:solidFill>
            <a:ln w="19050" cap="sq">
              <a:solidFill>
                <a:srgbClr val="0B1F3A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35560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0B1F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2.0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0B1F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CORRELATE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573000" y="2381250"/>
            <a:ext cx="2667000" cy="1238250"/>
            <a:chOff x="0" y="0"/>
            <a:chExt cx="3556000" cy="1651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56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556000">
                  <a:moveTo>
                    <a:pt x="54429" y="0"/>
                  </a:moveTo>
                  <a:lnTo>
                    <a:pt x="3501572" y="0"/>
                  </a:lnTo>
                  <a:cubicBezTo>
                    <a:pt x="3531631" y="0"/>
                    <a:pt x="3556000" y="24369"/>
                    <a:pt x="3556000" y="54429"/>
                  </a:cubicBezTo>
                  <a:lnTo>
                    <a:pt x="3556000" y="1596571"/>
                  </a:lnTo>
                  <a:cubicBezTo>
                    <a:pt x="3556000" y="1626632"/>
                    <a:pt x="3531631" y="1651000"/>
                    <a:pt x="3501572" y="1651000"/>
                  </a:cubicBezTo>
                  <a:lnTo>
                    <a:pt x="54429" y="1651000"/>
                  </a:lnTo>
                  <a:cubicBezTo>
                    <a:pt x="24369" y="1651000"/>
                    <a:pt x="0" y="1626632"/>
                    <a:pt x="0" y="15965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EEF3FF"/>
            </a:solidFill>
            <a:ln w="19050" cap="sq">
              <a:solidFill>
                <a:srgbClr val="1F3FB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35560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F3F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3.0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F3F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ASSESS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144750" y="6191250"/>
            <a:ext cx="2381250" cy="1047750"/>
            <a:chOff x="0" y="0"/>
            <a:chExt cx="3175000" cy="1397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7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175000">
                  <a:moveTo>
                    <a:pt x="60960" y="0"/>
                  </a:moveTo>
                  <a:lnTo>
                    <a:pt x="3114040" y="0"/>
                  </a:lnTo>
                  <a:cubicBezTo>
                    <a:pt x="3130208" y="0"/>
                    <a:pt x="3145713" y="6423"/>
                    <a:pt x="3157145" y="17855"/>
                  </a:cubicBezTo>
                  <a:cubicBezTo>
                    <a:pt x="3168578" y="29287"/>
                    <a:pt x="3175000" y="44792"/>
                    <a:pt x="3175000" y="60960"/>
                  </a:cubicBezTo>
                  <a:lnTo>
                    <a:pt x="3175000" y="1336040"/>
                  </a:lnTo>
                  <a:cubicBezTo>
                    <a:pt x="3175000" y="1369707"/>
                    <a:pt x="3147707" y="1397000"/>
                    <a:pt x="3114040" y="1397000"/>
                  </a:cubicBezTo>
                  <a:lnTo>
                    <a:pt x="60960" y="1397000"/>
                  </a:lnTo>
                  <a:cubicBezTo>
                    <a:pt x="27293" y="1397000"/>
                    <a:pt x="0" y="1369707"/>
                    <a:pt x="0" y="1336040"/>
                  </a:cubicBezTo>
                  <a:lnTo>
                    <a:pt x="0" y="60960"/>
                  </a:lnTo>
                  <a:cubicBezTo>
                    <a:pt x="0" y="27293"/>
                    <a:pt x="27293" y="0"/>
                    <a:pt x="609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F3FB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31750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F3F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OPERATOR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572000" y="6858000"/>
            <a:ext cx="2857500" cy="952500"/>
            <a:chOff x="0" y="0"/>
            <a:chExt cx="3810000" cy="1270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81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810000">
                  <a:moveTo>
                    <a:pt x="50800" y="0"/>
                  </a:moveTo>
                  <a:lnTo>
                    <a:pt x="3759200" y="0"/>
                  </a:lnTo>
                  <a:cubicBezTo>
                    <a:pt x="3787256" y="0"/>
                    <a:pt x="3810000" y="22744"/>
                    <a:pt x="3810000" y="50800"/>
                  </a:cubicBezTo>
                  <a:lnTo>
                    <a:pt x="3810000" y="1219200"/>
                  </a:lnTo>
                  <a:cubicBezTo>
                    <a:pt x="3810000" y="1247256"/>
                    <a:pt x="3787256" y="1270000"/>
                    <a:pt x="3759200" y="1270000"/>
                  </a:cubicBezTo>
                  <a:lnTo>
                    <a:pt x="50800" y="1270000"/>
                  </a:lnTo>
                  <a:cubicBezTo>
                    <a:pt x="22744" y="1270000"/>
                    <a:pt x="0" y="1247256"/>
                    <a:pt x="0" y="1219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B1F3A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3810000" cy="1260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D1 · STATE STORE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287000" y="6858000"/>
            <a:ext cx="2857500" cy="952500"/>
            <a:chOff x="0" y="0"/>
            <a:chExt cx="3810000" cy="1270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81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810000">
                  <a:moveTo>
                    <a:pt x="50800" y="0"/>
                  </a:moveTo>
                  <a:lnTo>
                    <a:pt x="3759200" y="0"/>
                  </a:lnTo>
                  <a:cubicBezTo>
                    <a:pt x="3787256" y="0"/>
                    <a:pt x="3810000" y="22744"/>
                    <a:pt x="3810000" y="50800"/>
                  </a:cubicBezTo>
                  <a:lnTo>
                    <a:pt x="3810000" y="1219200"/>
                  </a:lnTo>
                  <a:cubicBezTo>
                    <a:pt x="3810000" y="1247256"/>
                    <a:pt x="3787256" y="1270000"/>
                    <a:pt x="3759200" y="1270000"/>
                  </a:cubicBezTo>
                  <a:lnTo>
                    <a:pt x="50800" y="1270000"/>
                  </a:lnTo>
                  <a:cubicBezTo>
                    <a:pt x="22744" y="1270000"/>
                    <a:pt x="0" y="1247256"/>
                    <a:pt x="0" y="1219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B1F3A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9525"/>
              <a:ext cx="3810000" cy="1260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D2 · PATH INDEX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52500" y="9496425"/>
            <a:ext cx="76200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52647A"/>
                </a:solidFill>
                <a:latin typeface="Montserrat"/>
                <a:ea typeface="Montserrat"/>
                <a:cs typeface="Montserrat"/>
                <a:sym typeface="Montserrat"/>
              </a:rPr>
              <a:t>Figure: Data Flow Diagram (DFD)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B8C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781050"/>
            <a:ext cx="114300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Deployment Timeline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1581150"/>
            <a:ext cx="123825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52647A"/>
                </a:solidFill>
                <a:latin typeface="Montserrat"/>
                <a:ea typeface="Montserrat"/>
                <a:cs typeface="Montserrat"/>
                <a:sym typeface="Montserrat"/>
              </a:rPr>
              <a:t>Milestones remain editable; replace date placeholders after sprint planning.</a:t>
            </a:r>
          </a:p>
        </p:txBody>
      </p:sp>
      <p:sp>
        <p:nvSpPr>
          <p:cNvPr name="AutoShape 7" id="7"/>
          <p:cNvSpPr/>
          <p:nvPr/>
        </p:nvSpPr>
        <p:spPr>
          <a:xfrm>
            <a:off x="1524000" y="4953000"/>
            <a:ext cx="15240000" cy="0"/>
          </a:xfrm>
          <a:prstGeom prst="line">
            <a:avLst/>
          </a:prstGeom>
          <a:ln cap="rnd" w="571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257300" y="4686300"/>
            <a:ext cx="533400" cy="533400"/>
            <a:chOff x="0" y="0"/>
            <a:chExt cx="711200" cy="711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551992" y="0"/>
                    <a:pt x="711200" y="159208"/>
                    <a:pt x="711200" y="355600"/>
                  </a:cubicBezTo>
                  <a:cubicBezTo>
                    <a:pt x="711200" y="551992"/>
                    <a:pt x="551992" y="711200"/>
                    <a:pt x="355600" y="711200"/>
                  </a:cubicBezTo>
                  <a:cubicBezTo>
                    <a:pt x="159208" y="711200"/>
                    <a:pt x="0" y="551992"/>
                    <a:pt x="0" y="355600"/>
                  </a:cubicBez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1F3FB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067300" y="4686300"/>
            <a:ext cx="533400" cy="533400"/>
            <a:chOff x="0" y="0"/>
            <a:chExt cx="711200" cy="711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551992" y="0"/>
                    <a:pt x="711200" y="159208"/>
                    <a:pt x="711200" y="355600"/>
                  </a:cubicBezTo>
                  <a:cubicBezTo>
                    <a:pt x="711200" y="551992"/>
                    <a:pt x="551992" y="711200"/>
                    <a:pt x="355600" y="711200"/>
                  </a:cubicBezTo>
                  <a:cubicBezTo>
                    <a:pt x="159208" y="711200"/>
                    <a:pt x="0" y="551992"/>
                    <a:pt x="0" y="355600"/>
                  </a:cubicBez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1F3FB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877300" y="4686300"/>
            <a:ext cx="533400" cy="533400"/>
            <a:chOff x="0" y="0"/>
            <a:chExt cx="711200" cy="711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551992" y="0"/>
                    <a:pt x="711200" y="159208"/>
                    <a:pt x="711200" y="355600"/>
                  </a:cubicBezTo>
                  <a:cubicBezTo>
                    <a:pt x="711200" y="551992"/>
                    <a:pt x="551992" y="711200"/>
                    <a:pt x="355600" y="711200"/>
                  </a:cubicBezTo>
                  <a:cubicBezTo>
                    <a:pt x="159208" y="711200"/>
                    <a:pt x="0" y="551992"/>
                    <a:pt x="0" y="355600"/>
                  </a:cubicBez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1F3FB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687300" y="4686300"/>
            <a:ext cx="533400" cy="533400"/>
            <a:chOff x="0" y="0"/>
            <a:chExt cx="711200" cy="711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551992" y="0"/>
                    <a:pt x="711200" y="159208"/>
                    <a:pt x="711200" y="355600"/>
                  </a:cubicBezTo>
                  <a:cubicBezTo>
                    <a:pt x="711200" y="551992"/>
                    <a:pt x="551992" y="711200"/>
                    <a:pt x="355600" y="711200"/>
                  </a:cubicBezTo>
                  <a:cubicBezTo>
                    <a:pt x="159208" y="711200"/>
                    <a:pt x="0" y="551992"/>
                    <a:pt x="0" y="355600"/>
                  </a:cubicBez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1F3FB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497300" y="4686300"/>
            <a:ext cx="533400" cy="533400"/>
            <a:chOff x="0" y="0"/>
            <a:chExt cx="711200" cy="711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551992" y="0"/>
                    <a:pt x="711200" y="159208"/>
                    <a:pt x="711200" y="355600"/>
                  </a:cubicBezTo>
                  <a:cubicBezTo>
                    <a:pt x="711200" y="551992"/>
                    <a:pt x="551992" y="711200"/>
                    <a:pt x="355600" y="711200"/>
                  </a:cubicBezTo>
                  <a:cubicBezTo>
                    <a:pt x="159208" y="711200"/>
                    <a:pt x="0" y="551992"/>
                    <a:pt x="0" y="355600"/>
                  </a:cubicBez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22B8C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90500" y="5676900"/>
            <a:ext cx="26670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 b="true">
                <a:solidFill>
                  <a:srgbClr val="0B1F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Scope + datasets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71500" y="6534150"/>
            <a:ext cx="190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b="true" sz="1650" spc="99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[DATE]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000500" y="3295650"/>
            <a:ext cx="26670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 b="true">
                <a:solidFill>
                  <a:srgbClr val="0B1F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Ingestion + diff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381500" y="4057650"/>
            <a:ext cx="190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b="true" sz="1650" spc="99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[DATE]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10500" y="5676900"/>
            <a:ext cx="26670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 b="true">
                <a:solidFill>
                  <a:srgbClr val="0B1F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Graph + analysis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191500" y="6534150"/>
            <a:ext cx="190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b="true" sz="1650" spc="99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[DATE]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620500" y="3295650"/>
            <a:ext cx="26670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 b="true">
                <a:solidFill>
                  <a:srgbClr val="0B1F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API + UI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01500" y="4057650"/>
            <a:ext cx="190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b="true" sz="1650" spc="99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[DATE]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430500" y="5676900"/>
            <a:ext cx="26670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 b="true">
                <a:solidFill>
                  <a:srgbClr val="0B1F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Validate + demo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811500" y="6534150"/>
            <a:ext cx="190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b="true" sz="1650" spc="99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[DATE]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B8C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781050"/>
            <a:ext cx="95250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Bibliography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57250" y="1762125"/>
            <a:ext cx="16192500" cy="6858000"/>
            <a:chOff x="0" y="0"/>
            <a:chExt cx="21590000" cy="914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590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9144000"/>
                  </a:lnTo>
                  <a:lnTo>
                    <a:pt x="0" y="9144000"/>
                  </a:lnTo>
                  <a:close/>
                </a:path>
              </a:pathLst>
            </a:custGeom>
            <a:solidFill>
              <a:srgbClr val="EEF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590000" cy="918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43000" y="1971675"/>
            <a:ext cx="15525750" cy="2821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0B1F3A"/>
                </a:solidFill>
                <a:latin typeface="Montserrat"/>
                <a:ea typeface="Montserrat"/>
                <a:cs typeface="Montserrat"/>
                <a:sym typeface="Montserrat"/>
              </a:rPr>
              <a:t>[1] Lepinski, M.; Kent, S. RFC 6480: An Infrastructure to Support Secure Internet Routing. IETF, 2012.</a:t>
            </a:r>
          </a:p>
          <a:p>
            <a:pPr algn="l">
              <a:lnSpc>
                <a:spcPts val="2531"/>
              </a:lnSpc>
            </a:pP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0B1F3A"/>
                </a:solidFill>
                <a:latin typeface="Montserrat"/>
                <a:ea typeface="Montserrat"/>
                <a:cs typeface="Montserrat"/>
                <a:sym typeface="Montserrat"/>
              </a:rPr>
              <a:t>[2] Mohapatra, P. et al. RFC 6811: BGP Prefix Origin Validation; updated operational guidance in RFC 8893. IETF, 2013 / 2020.</a:t>
            </a:r>
          </a:p>
          <a:p>
            <a:pPr algn="l">
              <a:lnSpc>
                <a:spcPts val="2531"/>
              </a:lnSpc>
            </a:pP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0B1F3A"/>
                </a:solidFill>
                <a:latin typeface="Montserrat"/>
                <a:ea typeface="Montserrat"/>
                <a:cs typeface="Montserrat"/>
                <a:sym typeface="Montserrat"/>
              </a:rPr>
              <a:t>[3] Lepinski, M.; Sriram, K. RFC 8205: BGPsec Protocol Specification. IETF, 2017.</a:t>
            </a:r>
          </a:p>
          <a:p>
            <a:pPr algn="l">
              <a:lnSpc>
                <a:spcPts val="2531"/>
              </a:lnSpc>
            </a:pP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0B1F3A"/>
                </a:solidFill>
                <a:latin typeface="Montserrat"/>
                <a:ea typeface="Montserrat"/>
                <a:cs typeface="Montserrat"/>
                <a:sym typeface="Montserrat"/>
              </a:rPr>
              <a:t>[4] Bush, R. RFC 8416: Simplified Local Internet Number Resource Management with the RPKI. IETF, 2018.</a:t>
            </a:r>
          </a:p>
          <a:p>
            <a:pPr algn="l">
              <a:lnSpc>
                <a:spcPts val="2531"/>
              </a:lnSpc>
            </a:pP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0B1F3A"/>
                </a:solidFill>
                <a:latin typeface="Montserrat"/>
                <a:ea typeface="Montserrat"/>
                <a:cs typeface="Montserrat"/>
                <a:sym typeface="Montserrat"/>
              </a:rPr>
              <a:t>[5] Gilad, Y. et al. MaxLength Considered Harmful to the RPKI. CoNEXT, 2017.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43000" y="8763000"/>
            <a:ext cx="5715000" cy="28575"/>
            <a:chOff x="0" y="0"/>
            <a:chExt cx="76200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2B8C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620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43000" y="891540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i="true" b="true">
                <a:solidFill>
                  <a:srgbClr val="1F3FB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Verify each reference before submission.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B8C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82750" y="0"/>
            <a:ext cx="3905250" cy="10287000"/>
            <a:chOff x="0" y="0"/>
            <a:chExt cx="52070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07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207000">
                  <a:moveTo>
                    <a:pt x="0" y="0"/>
                  </a:moveTo>
                  <a:lnTo>
                    <a:pt x="5207000" y="0"/>
                  </a:lnTo>
                  <a:lnTo>
                    <a:pt x="5207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F3FB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207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3000" y="6762750"/>
            <a:ext cx="10668000" cy="38100"/>
            <a:chOff x="0" y="0"/>
            <a:chExt cx="14224000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24000" cy="50800"/>
            </a:xfrm>
            <a:custGeom>
              <a:avLst/>
              <a:gdLst/>
              <a:ahLst/>
              <a:cxnLst/>
              <a:rect r="r" b="b" t="t" l="l"/>
              <a:pathLst>
                <a:path h="50800" w="14224000">
                  <a:moveTo>
                    <a:pt x="0" y="0"/>
                  </a:moveTo>
                  <a:lnTo>
                    <a:pt x="14224000" y="0"/>
                  </a:lnTo>
                  <a:lnTo>
                    <a:pt x="1422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2B8C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22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43000" y="2590800"/>
            <a:ext cx="12382500" cy="1690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6450" b="true">
                <a:solidFill>
                  <a:srgbClr val="0B1F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 for</a:t>
            </a:r>
          </a:p>
          <a:p>
            <a:pPr algn="l">
              <a:lnSpc>
                <a:spcPts val="6579"/>
              </a:lnSpc>
            </a:pPr>
            <a:r>
              <a:rPr lang="en-US" sz="6450" b="true">
                <a:solidFill>
                  <a:srgbClr val="0B1F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Your Attention!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1100" y="6819900"/>
            <a:ext cx="1047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99" b="true">
                <a:solidFill>
                  <a:srgbClr val="1F3FB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DEBUGS · AIORI HACKATHON 3 · PS-032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1100" y="7581900"/>
            <a:ext cx="125730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52647A"/>
                </a:solidFill>
                <a:latin typeface="Montserrat"/>
                <a:ea typeface="Montserrat"/>
                <a:cs typeface="Montserrat"/>
                <a:sym typeface="Montserrat"/>
              </a:rPr>
              <a:t>Make every RPKI change explainable — from authorization to path to reachability.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954250" y="4476750"/>
            <a:ext cx="2762250" cy="1047750"/>
            <a:chOff x="0" y="0"/>
            <a:chExt cx="3683000" cy="1397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83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683000">
                  <a:moveTo>
                    <a:pt x="52552" y="0"/>
                  </a:moveTo>
                  <a:lnTo>
                    <a:pt x="3630448" y="0"/>
                  </a:lnTo>
                  <a:cubicBezTo>
                    <a:pt x="3644386" y="0"/>
                    <a:pt x="3657753" y="5537"/>
                    <a:pt x="3667608" y="15392"/>
                  </a:cubicBezTo>
                  <a:cubicBezTo>
                    <a:pt x="3677463" y="25247"/>
                    <a:pt x="3683000" y="38614"/>
                    <a:pt x="3683000" y="52552"/>
                  </a:cubicBezTo>
                  <a:lnTo>
                    <a:pt x="3683000" y="1344448"/>
                  </a:lnTo>
                  <a:cubicBezTo>
                    <a:pt x="3683000" y="1358386"/>
                    <a:pt x="3677463" y="1371753"/>
                    <a:pt x="3667608" y="1381608"/>
                  </a:cubicBezTo>
                  <a:cubicBezTo>
                    <a:pt x="3657753" y="1391463"/>
                    <a:pt x="3644386" y="1397000"/>
                    <a:pt x="3630448" y="1397000"/>
                  </a:cubicBezTo>
                  <a:lnTo>
                    <a:pt x="52552" y="1397000"/>
                  </a:lnTo>
                  <a:cubicBezTo>
                    <a:pt x="38614" y="1397000"/>
                    <a:pt x="25247" y="1391463"/>
                    <a:pt x="15392" y="1381608"/>
                  </a:cubicBezTo>
                  <a:cubicBezTo>
                    <a:pt x="5537" y="1371753"/>
                    <a:pt x="0" y="1358386"/>
                    <a:pt x="0" y="1344448"/>
                  </a:cubicBezTo>
                  <a:lnTo>
                    <a:pt x="0" y="52552"/>
                  </a:lnTo>
                  <a:cubicBezTo>
                    <a:pt x="0" y="38614"/>
                    <a:pt x="5537" y="25247"/>
                    <a:pt x="15392" y="15392"/>
                  </a:cubicBezTo>
                  <a:cubicBezTo>
                    <a:pt x="25247" y="5537"/>
                    <a:pt x="38614" y="0"/>
                    <a:pt x="52552" y="0"/>
                  </a:cubicBezTo>
                  <a:close/>
                </a:path>
              </a:pathLst>
            </a:custGeom>
            <a:solidFill>
              <a:srgbClr val="1F3FB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36830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QUESTIONS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DAHYAo4AoSY</dc:identifier>
  <dcterms:modified xsi:type="dcterms:W3CDTF">2011-08-01T06:04:30Z</dcterms:modified>
  <cp:revision>1</cp:revision>
  <dc:title>Team Debugs AIORI Deck</dc:title>
</cp:coreProperties>
</file>